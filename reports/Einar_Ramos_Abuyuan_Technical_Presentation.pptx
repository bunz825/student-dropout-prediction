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2.xml" ContentType="application/vnd.openxmlformats-officedocument.drawingml.chart+xml"/>
  <Override PartName="/ppt/notesSlides/notesSlide7.xml" ContentType="application/vnd.openxmlformats-officedocument.presentationml.notesSlide+xml"/>
  <Override PartName="/ppt/charts/chart3.xml" ContentType="application/vnd.openxmlformats-officedocument.drawingml.chart+xml"/>
  <Override PartName="/ppt/notesSlides/notesSlide8.xml" ContentType="application/vnd.openxmlformats-officedocument.presentationml.notesSlide+xml"/>
  <Override PartName="/ppt/charts/chart4.xml" ContentType="application/vnd.openxmlformats-officedocument.drawingml.chart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rts/chart5.xml" ContentType="application/vnd.openxmlformats-officedocument.drawingml.chart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3E3C08C2-A245-C06B-4162-D55188D2A43A}">
          <p14:sldIdLst>
            <p14:sldId id="256"/>
            <p14:sldId id="257"/>
          </p14:sldIdLst>
        </p14:section>
        <p14:section name="Data &amp; features" id="{D685D7E3-EFC7-094B-FCC5-C15C322044E7}">
          <p14:sldIdLst>
            <p14:sldId id="258"/>
            <p14:sldId id="259"/>
          </p14:sldIdLst>
        </p14:section>
        <p14:section name="Models &amp; results" id="{8AC6C955-653E-3F3D-2FDF-16C93EABD68D}">
          <p14:sldIdLst>
            <p14:sldId id="260"/>
            <p14:sldId id="261"/>
            <p14:sldId id="262"/>
            <p14:sldId id="263"/>
          </p14:sldIdLst>
        </p14:section>
        <p14:section name="Explainability &amp; fairness" id="{BFDBD936-E710-5144-AD58-35A0391FA85E}">
          <p14:sldIdLst>
            <p14:sldId id="264"/>
            <p14:sldId id="265"/>
          </p14:sldIdLst>
        </p14:section>
        <p14:section name="Conclusion" id="{874A258B-EB35-BB20-B6C4-1A3AFB20631D}">
          <p14:sldIdLst>
            <p14:sldId id="266"/>
            <p14:sldId id="26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0B3C49"/>
                </a:solidFill>
                <a:latin typeface="+mn-lt"/>
              </a:defRPr>
            </a:pPr>
            <a:r>
              <a:rPr lang="en-US" sz="1400" b="0" i="0" u="none" strike="noStrike">
                <a:solidFill>
                  <a:srgbClr val="0B3C49"/>
                </a:solidFill>
                <a:latin typeface="+mn-lt"/>
              </a:rPr>
              <a:t>Random Forest importance — top 8 (* = engineered)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RF importance</c:v>
                </c:pt>
              </c:strCache>
            </c:strRef>
          </c:tx>
          <c:spPr>
            <a:solidFill>
              <a:srgbClr val="1B998B"/>
            </a:solidFill>
            <a:effectLst/>
          </c:spPr>
          <c:invertIfNegative val="0"/>
          <c:dLbls>
            <c:numFmt formatCode="0.0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1F2A30"/>
                    </a:solidFill>
                    <a:latin typeface="+mn-lt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Sheet1!$A$2:$A$9</c:f>
              <c:strCache>
                <c:ptCount val="8"/>
                <c:pt idx="0">
                  <c:v>approval_rate_2nd*</c:v>
                </c:pt>
                <c:pt idx="1">
                  <c:v>overall_approval_rate*</c:v>
                </c:pt>
                <c:pt idx="2">
                  <c:v>2nd sem approved</c:v>
                </c:pt>
                <c:pt idx="3">
                  <c:v>approval_rate_1st*</c:v>
                </c:pt>
                <c:pt idx="4">
                  <c:v>total_approved*</c:v>
                </c:pt>
                <c:pt idx="5">
                  <c:v>2nd sem grade</c:v>
                </c:pt>
                <c:pt idx="6">
                  <c:v>failed_majority_2nd*</c:v>
                </c:pt>
                <c:pt idx="7">
                  <c:v>avg_grade_1st_2nd*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0.109</c:v>
                </c:pt>
                <c:pt idx="1">
                  <c:v>9.1999999999999998E-2</c:v>
                </c:pt>
                <c:pt idx="2">
                  <c:v>6.5000000000000002E-2</c:v>
                </c:pt>
                <c:pt idx="3">
                  <c:v>5.8000000000000003E-2</c:v>
                </c:pt>
                <c:pt idx="4">
                  <c:v>0.05</c:v>
                </c:pt>
                <c:pt idx="5">
                  <c:v>4.1000000000000002E-2</c:v>
                </c:pt>
                <c:pt idx="6">
                  <c:v>3.5999999999999997E-2</c:v>
                </c:pt>
                <c:pt idx="7">
                  <c:v>3.1E-2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6C9-460E-9EB3-1AE30798CF75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F2A3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t"/>
        <c:majorGridlines>
          <c:spPr>
            <a:ln w="6350" cap="flat">
              <a:solidFill>
                <a:srgbClr val="DDE5E4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0B3C49"/>
                </a:solidFill>
                <a:latin typeface="+mn-lt"/>
              </a:defRPr>
            </a:pPr>
            <a:r>
              <a:rPr lang="en-US" sz="1400" b="0" i="0" u="none" strike="noStrike">
                <a:solidFill>
                  <a:srgbClr val="0B3C49"/>
                </a:solidFill>
                <a:latin typeface="+mn-lt"/>
              </a:rPr>
              <a:t>Test-set recall and precision (%), Dropout class, at each model's cut-off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Recall</c:v>
                </c:pt>
              </c:strCache>
            </c:strRef>
          </c:tx>
          <c:spPr>
            <a:solidFill>
              <a:srgbClr val="1B998B"/>
            </a:solidFill>
            <a:effectLst/>
          </c:spPr>
          <c:invertIfNegative val="0"/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1F2A30"/>
                    </a:solidFill>
                    <a:latin typeface="+mn-lt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Logistic Reg.</c:v>
                </c:pt>
                <c:pt idx="1">
                  <c:v>Random Forest</c:v>
                </c:pt>
                <c:pt idx="2">
                  <c:v>XGBoost</c:v>
                </c:pt>
                <c:pt idx="3">
                  <c:v>SVM</c:v>
                </c:pt>
                <c:pt idx="4">
                  <c:v>Neural net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82</c:v>
                </c:pt>
                <c:pt idx="1">
                  <c:v>81.3</c:v>
                </c:pt>
                <c:pt idx="2">
                  <c:v>82</c:v>
                </c:pt>
                <c:pt idx="3">
                  <c:v>79.2</c:v>
                </c:pt>
                <c:pt idx="4">
                  <c:v>77.8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BFF-4F22-8FD4-1C5FE62692AA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Precision</c:v>
                </c:pt>
              </c:strCache>
            </c:strRef>
          </c:tx>
          <c:spPr>
            <a:solidFill>
              <a:srgbClr val="0B3C49"/>
            </a:solidFill>
            <a:effectLst/>
          </c:spPr>
          <c:invertIfNegative val="0"/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1F2A30"/>
                    </a:solidFill>
                    <a:latin typeface="+mn-lt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Logistic Reg.</c:v>
                </c:pt>
                <c:pt idx="1">
                  <c:v>Random Forest</c:v>
                </c:pt>
                <c:pt idx="2">
                  <c:v>XGBoost</c:v>
                </c:pt>
                <c:pt idx="3">
                  <c:v>SVM</c:v>
                </c:pt>
                <c:pt idx="4">
                  <c:v>Neural net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78.7</c:v>
                </c:pt>
                <c:pt idx="1">
                  <c:v>82.2</c:v>
                </c:pt>
                <c:pt idx="2">
                  <c:v>83.5</c:v>
                </c:pt>
                <c:pt idx="3">
                  <c:v>80.400000000000006</c:v>
                </c:pt>
                <c:pt idx="4">
                  <c:v>76.7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2BFF-4F22-8FD4-1C5FE62692AA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F2A3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90"/>
          <c:min val="60"/>
        </c:scaling>
        <c:delete val="0"/>
        <c:axPos val="l"/>
        <c:majorGridlines>
          <c:spPr>
            <a:ln w="6350" cap="flat">
              <a:solidFill>
                <a:srgbClr val="DDE5E4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7A8B8F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10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1F2A30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0B3C49"/>
                </a:solidFill>
                <a:latin typeface="+mn-lt"/>
              </a:defRPr>
            </a:pPr>
            <a:r>
              <a:rPr lang="en-US" sz="1400" b="0" i="0" u="none" strike="noStrike">
                <a:solidFill>
                  <a:srgbClr val="0B3C49"/>
                </a:solidFill>
                <a:latin typeface="+mn-lt"/>
              </a:rPr>
              <a:t>5-fold CV AUC (mean) — SD 0.005–0.012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CV AUC</c:v>
                </c:pt>
              </c:strCache>
            </c:strRef>
          </c:tx>
          <c:spPr>
            <a:solidFill>
              <a:srgbClr val="0B3C49"/>
            </a:solidFill>
            <a:effectLst/>
          </c:spPr>
          <c:invertIfNegative val="0"/>
          <c:dLbls>
            <c:numFmt formatCode="0.0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1F2A30"/>
                    </a:solidFill>
                    <a:latin typeface="+mn-lt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Logistic Reg.</c:v>
                </c:pt>
                <c:pt idx="1">
                  <c:v>Random Forest</c:v>
                </c:pt>
                <c:pt idx="2">
                  <c:v>XGBoost</c:v>
                </c:pt>
                <c:pt idx="3">
                  <c:v>SVM</c:v>
                </c:pt>
                <c:pt idx="4">
                  <c:v>Neural net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0.90200000000000002</c:v>
                </c:pt>
                <c:pt idx="1">
                  <c:v>0.91300000000000003</c:v>
                </c:pt>
                <c:pt idx="2">
                  <c:v>0.91500000000000004</c:v>
                </c:pt>
                <c:pt idx="3">
                  <c:v>0.90200000000000002</c:v>
                </c:pt>
                <c:pt idx="4">
                  <c:v>0.90800000000000003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0FD-4FAD-A91D-055481853126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F2A3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0.94"/>
          <c:min val="0.85"/>
        </c:scaling>
        <c:delete val="1"/>
        <c:axPos val="t"/>
        <c:majorGridlines>
          <c:spPr>
            <a:ln w="6350" cap="flat">
              <a:solidFill>
                <a:srgbClr val="DDE5E4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0B3C49"/>
                </a:solidFill>
                <a:latin typeface="+mn-lt"/>
              </a:defRPr>
            </a:pPr>
            <a:r>
              <a:rPr lang="en-US" sz="1400" b="0" i="0" u="none" strike="noStrike">
                <a:solidFill>
                  <a:srgbClr val="0B3C49"/>
                </a:solidFill>
                <a:latin typeface="+mn-lt"/>
              </a:rPr>
              <a:t>K-Means silhouette score by K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Silhouette</c:v>
                </c:pt>
              </c:strCache>
            </c:strRef>
          </c:tx>
          <c:spPr>
            <a:solidFill>
              <a:srgbClr val="1B998B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4298-444A-B17D-FD0F494B022E}"/>
              </c:ext>
            </c:extLst>
          </c:dPt>
          <c:dPt>
            <c:idx val="1"/>
            <c:invertIfNegative val="0"/>
            <c:bubble3D val="0"/>
            <c:spPr>
              <a:solidFill>
                <a:srgbClr val="E59A3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4298-444A-B17D-FD0F494B022E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5-4298-444A-B17D-FD0F494B022E}"/>
              </c:ext>
            </c:extLst>
          </c:dPt>
          <c:dPt>
            <c:idx val="3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7-4298-444A-B17D-FD0F494B022E}"/>
              </c:ext>
            </c:extLst>
          </c:dPt>
          <c:dPt>
            <c:idx val="4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9-4298-444A-B17D-FD0F494B022E}"/>
              </c:ext>
            </c:extLst>
          </c:dPt>
          <c:dLbls>
            <c:numFmt formatCode="0.0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1F2A30"/>
                    </a:solidFill>
                    <a:latin typeface="+mn-lt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K=2</c:v>
                </c:pt>
                <c:pt idx="1">
                  <c:v>K=3</c:v>
                </c:pt>
                <c:pt idx="2">
                  <c:v>K=4</c:v>
                </c:pt>
                <c:pt idx="3">
                  <c:v>K=5</c:v>
                </c:pt>
                <c:pt idx="4">
                  <c:v>K=6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0.41099999999999998</c:v>
                </c:pt>
                <c:pt idx="1">
                  <c:v>0.27600000000000002</c:v>
                </c:pt>
                <c:pt idx="2">
                  <c:v>0.28699999999999998</c:v>
                </c:pt>
                <c:pt idx="3">
                  <c:v>0.14399999999999999</c:v>
                </c:pt>
                <c:pt idx="4">
                  <c:v>0.218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4298-444A-B17D-FD0F494B022E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F2A3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0.5"/>
          <c:min val="0"/>
        </c:scaling>
        <c:delete val="1"/>
        <c:axPos val="l"/>
        <c:majorGridlines>
          <c:spPr>
            <a:ln w="6350" cap="flat">
              <a:solidFill>
                <a:srgbClr val="DDE5E4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0B3C49"/>
                </a:solidFill>
                <a:latin typeface="+mn-lt"/>
              </a:defRPr>
            </a:pPr>
            <a:r>
              <a:rPr lang="en-US" sz="1400" b="0" i="0" u="none" strike="noStrike">
                <a:solidFill>
                  <a:srgbClr val="0B3C49"/>
                </a:solidFill>
                <a:latin typeface="+mn-lt"/>
              </a:rPr>
              <a:t>Share of actual dropouts caught (TPR, %) — baseline LR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TPR</c:v>
                </c:pt>
              </c:strCache>
            </c:strRef>
          </c:tx>
          <c:spPr>
            <a:solidFill>
              <a:srgbClr val="1B998B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0C62-4DF7-AE19-804F2A5F1503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0C62-4DF7-AE19-804F2A5F1503}"/>
              </c:ext>
            </c:extLst>
          </c:dPt>
          <c:dPt>
            <c:idx val="2"/>
            <c:invertIfNegative val="0"/>
            <c:bubble3D val="0"/>
            <c:spPr>
              <a:solidFill>
                <a:srgbClr val="D9534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0C62-4DF7-AE19-804F2A5F1503}"/>
              </c:ext>
            </c:extLst>
          </c:dPt>
          <c:dPt>
            <c:idx val="3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7-0C62-4DF7-AE19-804F2A5F1503}"/>
              </c:ext>
            </c:extLst>
          </c:dPt>
          <c:dPt>
            <c:idx val="4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9-0C62-4DF7-AE19-804F2A5F1503}"/>
              </c:ext>
            </c:extLst>
          </c:dPt>
          <c:dPt>
            <c:idx val="5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B-0C62-4DF7-AE19-804F2A5F1503}"/>
              </c:ext>
            </c:extLst>
          </c:dPt>
          <c:dPt>
            <c:idx val="6"/>
            <c:invertIfNegative val="0"/>
            <c:bubble3D val="0"/>
            <c:spPr>
              <a:solidFill>
                <a:srgbClr val="D9534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0C62-4DF7-AE19-804F2A5F1503}"/>
              </c:ext>
            </c:extLst>
          </c:dPt>
          <c:dPt>
            <c:idx val="7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F-0C62-4DF7-AE19-804F2A5F1503}"/>
              </c:ext>
            </c:extLst>
          </c:dPt>
          <c:dPt>
            <c:idx val="8"/>
            <c:invertIfNegative val="0"/>
            <c:bubble3D val="0"/>
            <c:extLst>
              <c:ext xmlns:c16="http://schemas.microsoft.com/office/drawing/2014/chart" uri="{C3380CC4-5D6E-409C-BE32-E72D297353CC}">
                <c16:uniqueId val="{00000011-0C62-4DF7-AE19-804F2A5F1503}"/>
              </c:ext>
            </c:extLst>
          </c:dPt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1F2A30"/>
                    </a:solidFill>
                    <a:latin typeface="+mn-lt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Sheet1!$A$2:$A$10</c:f>
              <c:strCache>
                <c:ptCount val="9"/>
                <c:pt idx="0">
                  <c:v>Female</c:v>
                </c:pt>
                <c:pt idx="1">
                  <c:v>Male</c:v>
                </c:pt>
                <c:pt idx="2">
                  <c:v>Age ≤20</c:v>
                </c:pt>
                <c:pt idx="3">
                  <c:v>Age 21–25</c:v>
                </c:pt>
                <c:pt idx="4">
                  <c:v>Age &gt;25</c:v>
                </c:pt>
                <c:pt idx="5">
                  <c:v>No scholarship</c:v>
                </c:pt>
                <c:pt idx="6">
                  <c:v>Scholarship</c:v>
                </c:pt>
                <c:pt idx="7">
                  <c:v>Domestic</c:v>
                </c:pt>
                <c:pt idx="8">
                  <c:v>International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80.400000000000006</c:v>
                </c:pt>
                <c:pt idx="1">
                  <c:v>84.2</c:v>
                </c:pt>
                <c:pt idx="2">
                  <c:v>71.599999999999994</c:v>
                </c:pt>
                <c:pt idx="3">
                  <c:v>80.400000000000006</c:v>
                </c:pt>
                <c:pt idx="4">
                  <c:v>92.1</c:v>
                </c:pt>
                <c:pt idx="5">
                  <c:v>84.7</c:v>
                </c:pt>
                <c:pt idx="6">
                  <c:v>62.1</c:v>
                </c:pt>
                <c:pt idx="7">
                  <c:v>82.6</c:v>
                </c:pt>
                <c:pt idx="8">
                  <c:v>75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2-0C62-4DF7-AE19-804F2A5F1503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F2A3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0"/>
          <c:min val="50"/>
        </c:scaling>
        <c:delete val="1"/>
        <c:axPos val="t"/>
        <c:majorGridlines>
          <c:spPr>
            <a:ln w="6350" cap="flat">
              <a:solidFill>
                <a:srgbClr val="DDE5E4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287427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Goal: show how we framed, built, evaluated and audited a dropout early-warning model, and how every number can be reproduced from the GitHub repository with one command.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Recall is primary because a missed dropout costs far more than an unnecessary supportive conversation. Precision floor keeps the list actionable. The fairness target is part of the definition of success.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 leakage controls: scaler fit on train only; hyperparameters by cross-validation on training data; decision cut-offs chosen on the validation set; the test set is used once. Outliers are retained because they encode genuine disengagement.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top two features in both the filter and embedded rankings are engineered ratios. PCA was not used for modelling because advisors need named, explainable drivers; feature selection had already reduced 58 to 25 features.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Recommendation systems were also ruled out: there is no student–intervention interaction data. A single decision tree was not fitted separately; RF and XGBoost are tree ensembles that fix single-tree variance.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SVM and the neural network narrowly miss recall even after the validation-chosen cut-off; we report this rather than lowering the cut-off by looking at test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script now produces identical output on repeated runs. The neural-network bugs are a good example of why reproducibility checks matter: they changed both the conclusion on recall and the cross-validation picture.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Unsupervised results independently confirm the supervised signal: segments found without the label range from 10.8% to 80.5% dropout.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XGBoost SHAP and linear SHAP for logistic regression share 5 of their top 10 features. ICE curves show heterogeneity: for students with very high baseline risk, improving approval alone barely moves the prediction.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Age TPR gap is statistically significant (bootstrap 95% CI 0.105–0.305). Unawareness fails because remaining features predict age &gt; 25 with AUC 0.914. Reweighing drops recall below target and widens the debtor gap.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temporal ablation is the most practically important limitation: a staged deployment can use a 1st-semester model for earlier, lighter-touch outreach.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0.011 AUC gap to the ensembles is within cross-validation noise, so interpretability decides. XGBoost offers higher precision (83.5%) if advisor workload becomes the binding constraint.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731520" y="1828800"/>
            <a:ext cx="1069848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4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marL="0" indent="0" algn="l">
              <a:buNone/>
            </a:pPr>
            <a:endParaRPr lang="en-US" sz="40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731520" y="3474720"/>
            <a:ext cx="1069848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2000" dirty="0">
                <a:solidFill>
                  <a:srgbClr val="CADCDA"/>
                </a:solidFill>
              </a:defRPr>
            </a:lvl1pPr>
          </a:lstStyle>
          <a:p>
            <a:pPr marL="0" indent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marL="0" indent="0">
              <a:buNone/>
            </a:pPr>
            <a:endParaRPr lang="en-US" sz="3000" dirty="0"/>
          </a:p>
        </p:txBody>
      </p:sp>
      <p:sp>
        <p:nvSpPr>
          <p:cNvPr id="3" name="Text 0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8B8F"/>
                </a:solidFill>
              </a:rPr>
              <a:t>Student Dropout Prediction  |  Technical presentation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7A8B8F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7A8B8F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731520" y="1828800"/>
            <a:ext cx="10698480" cy="1463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l">
              <a:buNone/>
            </a:pPr>
            <a:r>
              <a:rPr lang="en-US" sz="4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Predicting Student Dropout</a:t>
            </a:r>
            <a:endParaRPr lang="en-US" sz="40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731520" y="3474720"/>
            <a:ext cx="1069848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CADCDA"/>
                </a:solidFill>
              </a:rPr>
              <a:t>Methodology, model comparison, explainability and fairness audit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CADCDA"/>
                </a:solidFill>
              </a:rPr>
              <a:t>Technical presentation for peers  ·  PGD in AI &amp; Machine Learning — Capstone</a:t>
            </a:r>
            <a:endParaRPr lang="en-US" dirty="0"/>
          </a:p>
          <a:p>
            <a:pPr marL="0" indent="0">
              <a:buNone/>
            </a:pPr>
            <a:r>
              <a:rPr lang="en-US" sz="2000" dirty="0"/>
              <a:t>Einar Ramos Abuyuan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Binary classification: will this student drop out?</a:t>
            </a:r>
            <a:endParaRPr lang="en-US" sz="3000" dirty="0"/>
          </a:p>
        </p:txBody>
      </p:sp>
      <p:sp>
        <p:nvSpPr>
          <p:cNvPr id="3" name="s-n-card"/>
          <p:cNvSpPr/>
          <p:nvPr/>
        </p:nvSpPr>
        <p:spPr>
          <a:xfrm>
            <a:off x="548640" y="1371600"/>
            <a:ext cx="2606040" cy="1600200"/>
          </a:xfrm>
          <a:prstGeom prst="roundRect">
            <a:avLst>
              <a:gd name="adj" fmla="val 6857"/>
            </a:avLst>
          </a:prstGeom>
          <a:solidFill>
            <a:srgbClr val="EEF4F3"/>
          </a:solidFill>
          <a:ln w="12700">
            <a:solidFill>
              <a:srgbClr val="EEF4F3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4" name="s-n-num"/>
          <p:cNvSpPr txBox="1"/>
          <p:nvPr/>
        </p:nvSpPr>
        <p:spPr>
          <a:xfrm>
            <a:off x="731520" y="1508760"/>
            <a:ext cx="2240280" cy="822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4,424</a:t>
            </a:r>
            <a:endParaRPr lang="en-US" sz="4000" dirty="0"/>
          </a:p>
        </p:txBody>
      </p:sp>
      <p:sp>
        <p:nvSpPr>
          <p:cNvPr id="5" name="s-n-label"/>
          <p:cNvSpPr txBox="1"/>
          <p:nvPr/>
        </p:nvSpPr>
        <p:spPr>
          <a:xfrm>
            <a:off x="731520" y="2331720"/>
            <a:ext cx="224028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F2A30"/>
                </a:solidFill>
              </a:rPr>
              <a:t>students, 36 input variables</a:t>
            </a:r>
            <a:endParaRPr lang="en-US" sz="1400" dirty="0"/>
          </a:p>
        </p:txBody>
      </p:sp>
      <p:sp>
        <p:nvSpPr>
          <p:cNvPr id="6" name="s-rate-card"/>
          <p:cNvSpPr/>
          <p:nvPr/>
        </p:nvSpPr>
        <p:spPr>
          <a:xfrm>
            <a:off x="3337560" y="1371600"/>
            <a:ext cx="2606040" cy="1600200"/>
          </a:xfrm>
          <a:prstGeom prst="roundRect">
            <a:avLst>
              <a:gd name="adj" fmla="val 6857"/>
            </a:avLst>
          </a:prstGeom>
          <a:solidFill>
            <a:srgbClr val="EEF4F3"/>
          </a:solidFill>
          <a:ln w="12700">
            <a:solidFill>
              <a:srgbClr val="EEF4F3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7" name="s-rate-num"/>
          <p:cNvSpPr txBox="1"/>
          <p:nvPr/>
        </p:nvSpPr>
        <p:spPr>
          <a:xfrm>
            <a:off x="3520440" y="1508760"/>
            <a:ext cx="2240280" cy="822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rgbClr val="D953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32.1%</a:t>
            </a:r>
            <a:endParaRPr lang="en-US" sz="4000" dirty="0"/>
          </a:p>
        </p:txBody>
      </p:sp>
      <p:sp>
        <p:nvSpPr>
          <p:cNvPr id="8" name="s-rate-label"/>
          <p:cNvSpPr txBox="1"/>
          <p:nvPr/>
        </p:nvSpPr>
        <p:spPr>
          <a:xfrm>
            <a:off x="3520440" y="2331720"/>
            <a:ext cx="224028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F2A30"/>
                </a:solidFill>
              </a:rPr>
              <a:t>dropout rate (2.11 : 1 imbalance)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3246120"/>
            <a:ext cx="539496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0B3C49"/>
                </a:solidFill>
              </a:rPr>
              <a:t>Framing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3657600"/>
            <a:ext cx="5394960" cy="2560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A30"/>
                </a:solidFill>
              </a:rPr>
              <a:t>Unit: one student; prediction made after first-year results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A30"/>
                </a:solidFill>
              </a:rPr>
              <a:t>Target: Dropout = 1 vs Graduate / Enrolled = 0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A30"/>
                </a:solidFill>
              </a:rPr>
              <a:t>Output: P(dropout) → cut-off → advisor shortlist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A30"/>
                </a:solidFill>
              </a:rPr>
              <a:t>Supporting task: clustering for risk segments</a:t>
            </a:r>
            <a:endParaRPr lang="en-US" sz="1500" dirty="0"/>
          </a:p>
        </p:txBody>
      </p:sp>
      <p:sp>
        <p:nvSpPr>
          <p:cNvPr id="11" name="targets-card"/>
          <p:cNvSpPr/>
          <p:nvPr/>
        </p:nvSpPr>
        <p:spPr>
          <a:xfrm>
            <a:off x="6400800" y="1371600"/>
            <a:ext cx="5212080" cy="4800600"/>
          </a:xfrm>
          <a:prstGeom prst="roundRect">
            <a:avLst>
              <a:gd name="adj" fmla="val 2286"/>
            </a:avLst>
          </a:prstGeom>
          <a:solidFill>
            <a:srgbClr val="EEF4F3"/>
          </a:solidFill>
          <a:ln w="12700">
            <a:solidFill>
              <a:srgbClr val="EEF4F3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12" name="Text 10"/>
          <p:cNvSpPr txBox="1"/>
          <p:nvPr/>
        </p:nvSpPr>
        <p:spPr>
          <a:xfrm>
            <a:off x="6629400" y="1508760"/>
            <a:ext cx="475488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0B3C49"/>
                </a:solidFill>
              </a:rPr>
              <a:t>Success targets (Dropout class, test set)</a:t>
            </a:r>
            <a:endParaRPr lang="en-US" sz="18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29400" y="2011680"/>
          <a:ext cx="4754880" cy="3017520"/>
        </p:xfrm>
        <a:graphic>
          <a:graphicData uri="http://schemas.openxmlformats.org/drawingml/2006/table">
            <a:tbl>
              <a:tblPr/>
              <a:tblGrid>
                <a:gridCol w="1188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517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Metric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Target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Why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F2A30"/>
                          </a:solidFill>
                        </a:rPr>
                        <a:t>Recall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F2A30"/>
                          </a:solidFill>
                        </a:rPr>
                        <a:t>≥ 80%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F2A30"/>
                          </a:solidFill>
                        </a:rPr>
                        <a:t>Missed dropout = costliest error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F2A30"/>
                          </a:solidFill>
                        </a:rPr>
                        <a:t>Precision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F2A30"/>
                          </a:solidFill>
                        </a:rPr>
                        <a:t>≥ 70%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F2A30"/>
                          </a:solidFill>
                        </a:rPr>
                        <a:t>Keeps advisor workload credible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F2A30"/>
                          </a:solidFill>
                        </a:rPr>
                        <a:t>AUC-ROC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F2A30"/>
                          </a:solidFill>
                        </a:rPr>
                        <a:t>≥ 0.85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F2A30"/>
                          </a:solidFill>
                        </a:rPr>
                        <a:t>Cut-off-free ranking quality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F2A30"/>
                          </a:solidFill>
                        </a:rPr>
                        <a:t>CV AUC SD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F2A30"/>
                          </a:solidFill>
                        </a:rPr>
                        <a:t>≤ 0.02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F2A30"/>
                          </a:solidFill>
                        </a:rPr>
                        <a:t>Stability across folds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F2A30"/>
                          </a:solidFill>
                        </a:rPr>
                        <a:t>TPR gap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F2A30"/>
                          </a:solidFill>
                        </a:rPr>
                        <a:t>≤ 0.10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F2A30"/>
                          </a:solidFill>
                        </a:rPr>
                        <a:t>Equal opportunity across groups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4" name="Text 11"/>
          <p:cNvSpPr txBox="1"/>
          <p:nvPr/>
        </p:nvSpPr>
        <p:spPr>
          <a:xfrm>
            <a:off x="6629400" y="5257800"/>
            <a:ext cx="4754880" cy="822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7A8B8F"/>
                </a:solidFill>
              </a:rPr>
              <a:t>Accuracy is reported but not targeted: predicting 'no dropout' for everyone already scores 67.9%.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7A8B8F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Clean public data and a leakage-safe pipeline</a:t>
            </a:r>
            <a:endParaRPr lang="en-US" sz="3000" dirty="0"/>
          </a:p>
        </p:txBody>
      </p:sp>
      <p:sp>
        <p:nvSpPr>
          <p:cNvPr id="3" name="step0-circle"/>
          <p:cNvSpPr/>
          <p:nvPr/>
        </p:nvSpPr>
        <p:spPr>
          <a:xfrm>
            <a:off x="1051560" y="1417320"/>
            <a:ext cx="777240" cy="777240"/>
          </a:xfrm>
          <a:prstGeom prst="ellipse">
            <a:avLst/>
          </a:prstGeom>
          <a:solidFill>
            <a:srgbClr val="0B3C49"/>
          </a:solidFill>
          <a:ln w="12700">
            <a:solidFill>
              <a:srgbClr val="0B3C49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pic>
        <p:nvPicPr>
          <p:cNvPr id="4" name="step0-icon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5870" y="1611630"/>
            <a:ext cx="388620" cy="3886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2331720"/>
            <a:ext cx="178308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3C49"/>
                </a:solidFill>
              </a:rPr>
              <a:t>Load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2697480"/>
            <a:ext cx="1783080" cy="11887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F2A30"/>
                </a:solidFill>
              </a:rPr>
              <a:t>UCI #697 (CC BY 4.0) — 0 missing, 0 duplicates, all values in range</a:t>
            </a:r>
            <a:endParaRPr lang="en-US" sz="1300" dirty="0"/>
          </a:p>
        </p:txBody>
      </p:sp>
      <p:sp>
        <p:nvSpPr>
          <p:cNvPr id="7" name="step1-circle"/>
          <p:cNvSpPr/>
          <p:nvPr/>
        </p:nvSpPr>
        <p:spPr>
          <a:xfrm>
            <a:off x="2926080" y="1417320"/>
            <a:ext cx="777240" cy="777240"/>
          </a:xfrm>
          <a:prstGeom prst="ellipse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pic>
        <p:nvPicPr>
          <p:cNvPr id="8" name="step1-icon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20390" y="1611630"/>
            <a:ext cx="388620" cy="38862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2423160" y="2331720"/>
            <a:ext cx="178308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3C49"/>
                </a:solidFill>
              </a:rPr>
              <a:t>Engineer</a:t>
            </a:r>
            <a:endParaRPr lang="en-US" sz="1600" dirty="0"/>
          </a:p>
        </p:txBody>
      </p:sp>
      <p:sp>
        <p:nvSpPr>
          <p:cNvPr id="10" name="Text 6"/>
          <p:cNvSpPr txBox="1"/>
          <p:nvPr/>
        </p:nvSpPr>
        <p:spPr>
          <a:xfrm>
            <a:off x="2423160" y="2697480"/>
            <a:ext cx="1783080" cy="11887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F2A30"/>
                </a:solidFill>
              </a:rPr>
              <a:t>22 domain features (20 genuinely new)</a:t>
            </a:r>
            <a:endParaRPr lang="en-US" sz="1300" dirty="0"/>
          </a:p>
        </p:txBody>
      </p:sp>
      <p:sp>
        <p:nvSpPr>
          <p:cNvPr id="11" name="step2-circle"/>
          <p:cNvSpPr/>
          <p:nvPr/>
        </p:nvSpPr>
        <p:spPr>
          <a:xfrm>
            <a:off x="4800600" y="1417320"/>
            <a:ext cx="777240" cy="777240"/>
          </a:xfrm>
          <a:prstGeom prst="ellipse">
            <a:avLst/>
          </a:prstGeom>
          <a:solidFill>
            <a:srgbClr val="0B3C49"/>
          </a:solidFill>
          <a:ln w="12700">
            <a:solidFill>
              <a:srgbClr val="0B3C49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pic>
        <p:nvPicPr>
          <p:cNvPr id="12" name="step2-icon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94910" y="1611630"/>
            <a:ext cx="388620" cy="38862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4297680" y="2331720"/>
            <a:ext cx="178308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3C49"/>
                </a:solidFill>
              </a:rPr>
              <a:t>Select</a:t>
            </a:r>
            <a:endParaRPr lang="en-US" sz="1600" dirty="0"/>
          </a:p>
        </p:txBody>
      </p:sp>
      <p:sp>
        <p:nvSpPr>
          <p:cNvPr id="14" name="Text 9"/>
          <p:cNvSpPr txBox="1"/>
          <p:nvPr/>
        </p:nvSpPr>
        <p:spPr>
          <a:xfrm>
            <a:off x="4297680" y="2697480"/>
            <a:ext cx="1783080" cy="11887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F2A30"/>
                </a:solidFill>
              </a:rPr>
              <a:t>Fixed 25-feature list</a:t>
            </a:r>
            <a:endParaRPr lang="en-US" sz="1300" dirty="0"/>
          </a:p>
        </p:txBody>
      </p:sp>
      <p:sp>
        <p:nvSpPr>
          <p:cNvPr id="15" name="step3-circle"/>
          <p:cNvSpPr/>
          <p:nvPr/>
        </p:nvSpPr>
        <p:spPr>
          <a:xfrm>
            <a:off x="6675120" y="1417320"/>
            <a:ext cx="777240" cy="777240"/>
          </a:xfrm>
          <a:prstGeom prst="ellipse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pic>
        <p:nvPicPr>
          <p:cNvPr id="16" name="step3-icon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69430" y="1611630"/>
            <a:ext cx="388620" cy="388620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6172200" y="2331720"/>
            <a:ext cx="178308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3C49"/>
                </a:solidFill>
              </a:rPr>
              <a:t>Split</a:t>
            </a:r>
            <a:endParaRPr lang="en-US" sz="1600" dirty="0"/>
          </a:p>
        </p:txBody>
      </p:sp>
      <p:sp>
        <p:nvSpPr>
          <p:cNvPr id="18" name="Text 12"/>
          <p:cNvSpPr txBox="1"/>
          <p:nvPr/>
        </p:nvSpPr>
        <p:spPr>
          <a:xfrm>
            <a:off x="6172200" y="2697480"/>
            <a:ext cx="1783080" cy="11887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F2A30"/>
                </a:solidFill>
              </a:rPr>
              <a:t>Stratified 64 / 16 / 20 — 2,831 / 708 / 885, seed 42</a:t>
            </a:r>
            <a:endParaRPr lang="en-US" sz="1300" dirty="0"/>
          </a:p>
        </p:txBody>
      </p:sp>
      <p:sp>
        <p:nvSpPr>
          <p:cNvPr id="19" name="step4-circle"/>
          <p:cNvSpPr/>
          <p:nvPr/>
        </p:nvSpPr>
        <p:spPr>
          <a:xfrm>
            <a:off x="8549640" y="1417320"/>
            <a:ext cx="777240" cy="777240"/>
          </a:xfrm>
          <a:prstGeom prst="ellipse">
            <a:avLst/>
          </a:prstGeom>
          <a:solidFill>
            <a:srgbClr val="0B3C49"/>
          </a:solidFill>
          <a:ln w="12700">
            <a:solidFill>
              <a:srgbClr val="0B3C49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pic>
        <p:nvPicPr>
          <p:cNvPr id="20" name="step4-icon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743950" y="1611630"/>
            <a:ext cx="388620" cy="388620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8046720" y="2331720"/>
            <a:ext cx="178308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3C49"/>
                </a:solidFill>
              </a:rPr>
              <a:t>Scale</a:t>
            </a:r>
            <a:endParaRPr lang="en-US" sz="1600" dirty="0"/>
          </a:p>
        </p:txBody>
      </p:sp>
      <p:sp>
        <p:nvSpPr>
          <p:cNvPr id="22" name="Text 15"/>
          <p:cNvSpPr txBox="1"/>
          <p:nvPr/>
        </p:nvSpPr>
        <p:spPr>
          <a:xfrm>
            <a:off x="8046720" y="2697480"/>
            <a:ext cx="1783080" cy="11887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F2A30"/>
                </a:solidFill>
              </a:rPr>
              <a:t>StandardScaler fitted on training data only</a:t>
            </a:r>
            <a:endParaRPr lang="en-US" sz="1300" dirty="0"/>
          </a:p>
        </p:txBody>
      </p:sp>
      <p:sp>
        <p:nvSpPr>
          <p:cNvPr id="23" name="step5-circle"/>
          <p:cNvSpPr/>
          <p:nvPr/>
        </p:nvSpPr>
        <p:spPr>
          <a:xfrm>
            <a:off x="10424160" y="1417320"/>
            <a:ext cx="777240" cy="777240"/>
          </a:xfrm>
          <a:prstGeom prst="ellipse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pic>
        <p:nvPicPr>
          <p:cNvPr id="24" name="step5-icon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618470" y="1611630"/>
            <a:ext cx="388620" cy="388620"/>
          </a:xfrm>
          <a:prstGeom prst="rect">
            <a:avLst/>
          </a:prstGeom>
        </p:spPr>
      </p:pic>
      <p:sp>
        <p:nvSpPr>
          <p:cNvPr id="25" name="Text 17"/>
          <p:cNvSpPr txBox="1"/>
          <p:nvPr/>
        </p:nvSpPr>
        <p:spPr>
          <a:xfrm>
            <a:off x="9921240" y="2331720"/>
            <a:ext cx="178308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3C49"/>
                </a:solidFill>
              </a:rPr>
              <a:t>Tune &amp; choose</a:t>
            </a:r>
            <a:endParaRPr lang="en-US" sz="1600" dirty="0"/>
          </a:p>
        </p:txBody>
      </p:sp>
      <p:sp>
        <p:nvSpPr>
          <p:cNvPr id="26" name="Text 18"/>
          <p:cNvSpPr txBox="1"/>
          <p:nvPr/>
        </p:nvSpPr>
        <p:spPr>
          <a:xfrm>
            <a:off x="9921240" y="2697480"/>
            <a:ext cx="1783080" cy="11887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F2A30"/>
                </a:solidFill>
              </a:rPr>
              <a:t>CV on train; cut-off on validation; test touched once</a:t>
            </a:r>
            <a:endParaRPr lang="en-US" sz="1300" dirty="0"/>
          </a:p>
        </p:txBody>
      </p:sp>
      <p:sp>
        <p:nvSpPr>
          <p:cNvPr id="27" name="quality-card"/>
          <p:cNvSpPr/>
          <p:nvPr/>
        </p:nvSpPr>
        <p:spPr>
          <a:xfrm>
            <a:off x="548640" y="4160520"/>
            <a:ext cx="11064240" cy="2057400"/>
          </a:xfrm>
          <a:prstGeom prst="roundRect">
            <a:avLst>
              <a:gd name="adj" fmla="val 5333"/>
            </a:avLst>
          </a:prstGeom>
          <a:solidFill>
            <a:srgbClr val="EEF4F3"/>
          </a:solidFill>
          <a:ln w="12700">
            <a:solidFill>
              <a:srgbClr val="EEF4F3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28" name="Text 20"/>
          <p:cNvSpPr txBox="1"/>
          <p:nvPr/>
        </p:nvSpPr>
        <p:spPr>
          <a:xfrm>
            <a:off x="777240" y="4297680"/>
            <a:ext cx="548640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0B3C49"/>
                </a:solidFill>
              </a:rPr>
              <a:t>Data understanding highlights</a:t>
            </a:r>
            <a:endParaRPr lang="en-US" sz="1700" dirty="0"/>
          </a:p>
        </p:txBody>
      </p:sp>
      <p:sp>
        <p:nvSpPr>
          <p:cNvPr id="29" name="Text 21"/>
          <p:cNvSpPr txBox="1"/>
          <p:nvPr/>
        </p:nvSpPr>
        <p:spPr>
          <a:xfrm>
            <a:off x="777240" y="4709160"/>
            <a:ext cx="5303520" cy="1463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A30"/>
                </a:solidFill>
              </a:rPr>
              <a:t>Outliers kept: 16–20% zero grades are the at-risk group, not errors</a:t>
            </a:r>
            <a:endParaRPr lang="en-US" sz="14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A30"/>
                </a:solidFill>
              </a:rPr>
              <a:t>Strongest raw signals: 2nd-sem grade (r = −0.57), approved units (−0.57), fees up to date (−0.43)</a:t>
            </a:r>
            <a:endParaRPr lang="en-US" sz="1400" dirty="0"/>
          </a:p>
        </p:txBody>
      </p:sp>
      <p:sp>
        <p:nvSpPr>
          <p:cNvPr id="30" name="Text 22"/>
          <p:cNvSpPr txBox="1"/>
          <p:nvPr/>
        </p:nvSpPr>
        <p:spPr>
          <a:xfrm>
            <a:off x="6217920" y="4709160"/>
            <a:ext cx="5212080" cy="1463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A30"/>
                </a:solidFill>
              </a:rPr>
              <a:t>Dropout rate: fees in arrears 86.6%, debtor 62.0%, age &gt; 25 55.9%</a:t>
            </a:r>
            <a:endParaRPr lang="en-US" sz="14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A30"/>
                </a:solidFill>
              </a:rPr>
              <a:t>1st/2nd-semester approved units correlate at r = 0.90 → ratio features + selection</a:t>
            </a:r>
            <a:endParaRPr lang="en-US" sz="1400" dirty="0"/>
          </a:p>
        </p:txBody>
      </p:sp>
      <p:sp>
        <p:nvSpPr>
          <p:cNvPr id="3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7A8B8F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Engineered features dominate every importance ranking</a:t>
            </a:r>
            <a:endParaRPr lang="en-US" sz="3000" dirty="0"/>
          </a:p>
        </p:txBody>
      </p:sp>
      <p:graphicFrame>
        <p:nvGraphicFramePr>
          <p:cNvPr id="3" name="Chart 0"/>
          <p:cNvGraphicFramePr/>
          <p:nvPr/>
        </p:nvGraphicFramePr>
        <p:xfrm>
          <a:off x="548640" y="1280160"/>
          <a:ext cx="6035040" cy="49377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fe-card"/>
          <p:cNvSpPr/>
          <p:nvPr/>
        </p:nvSpPr>
        <p:spPr>
          <a:xfrm>
            <a:off x="6858000" y="1280160"/>
            <a:ext cx="4754880" cy="2240280"/>
          </a:xfrm>
          <a:prstGeom prst="roundRect">
            <a:avLst>
              <a:gd name="adj" fmla="val 4898"/>
            </a:avLst>
          </a:prstGeom>
          <a:solidFill>
            <a:srgbClr val="EEF4F3"/>
          </a:solidFill>
          <a:ln w="12700">
            <a:solidFill>
              <a:srgbClr val="EEF4F3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5" name="Text 2"/>
          <p:cNvSpPr txBox="1"/>
          <p:nvPr/>
        </p:nvSpPr>
        <p:spPr>
          <a:xfrm>
            <a:off x="7040880" y="1371600"/>
            <a:ext cx="438912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0B3C49"/>
                </a:solidFill>
              </a:rPr>
              <a:t>Feature engineering</a:t>
            </a:r>
            <a:endParaRPr lang="en-US" sz="1700" dirty="0"/>
          </a:p>
        </p:txBody>
      </p:sp>
      <p:sp>
        <p:nvSpPr>
          <p:cNvPr id="6" name="Text 3"/>
          <p:cNvSpPr txBox="1"/>
          <p:nvPr/>
        </p:nvSpPr>
        <p:spPr>
          <a:xfrm>
            <a:off x="7040880" y="1783080"/>
            <a:ext cx="4434840" cy="17373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A30"/>
                </a:solidFill>
              </a:rPr>
              <a:t>Approval and engagement ratios normalise for course load</a:t>
            </a:r>
            <a:endParaRPr lang="en-US" sz="14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A30"/>
                </a:solidFill>
              </a:rPr>
              <a:t>Financial hardship index (0–3); age &gt; 25 binning</a:t>
            </a:r>
            <a:endParaRPr lang="en-US" sz="14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A30"/>
                </a:solidFill>
              </a:rPr>
              <a:t>Rule-style flags: failed majority, no evaluations</a:t>
            </a:r>
            <a:endParaRPr lang="en-US" sz="14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A30"/>
                </a:solidFill>
              </a:rPr>
              <a:t>14 of 25 final features are engineered</a:t>
            </a:r>
            <a:endParaRPr lang="en-US" sz="1400" dirty="0"/>
          </a:p>
        </p:txBody>
      </p:sp>
      <p:sp>
        <p:nvSpPr>
          <p:cNvPr id="7" name="fs-card"/>
          <p:cNvSpPr/>
          <p:nvPr/>
        </p:nvSpPr>
        <p:spPr>
          <a:xfrm>
            <a:off x="6858000" y="3703320"/>
            <a:ext cx="4754880" cy="2514600"/>
          </a:xfrm>
          <a:prstGeom prst="roundRect">
            <a:avLst>
              <a:gd name="adj" fmla="val 4364"/>
            </a:avLst>
          </a:prstGeom>
          <a:solidFill>
            <a:srgbClr val="EEF4F3"/>
          </a:solidFill>
          <a:ln w="12700">
            <a:solidFill>
              <a:srgbClr val="EEF4F3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8" name="Text 5"/>
          <p:cNvSpPr txBox="1"/>
          <p:nvPr/>
        </p:nvSpPr>
        <p:spPr>
          <a:xfrm>
            <a:off x="7040880" y="3794760"/>
            <a:ext cx="438912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0B3C49"/>
                </a:solidFill>
              </a:rPr>
              <a:t>Selection: filter + embedded + wrapper</a:t>
            </a:r>
            <a:endParaRPr lang="en-US" sz="1700" dirty="0"/>
          </a:p>
        </p:txBody>
      </p:sp>
      <p:sp>
        <p:nvSpPr>
          <p:cNvPr id="9" name="Text 6"/>
          <p:cNvSpPr txBox="1"/>
          <p:nvPr/>
        </p:nvSpPr>
        <p:spPr>
          <a:xfrm>
            <a:off x="7040880" y="4206240"/>
            <a:ext cx="4434840" cy="1965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A30"/>
                </a:solidFill>
              </a:rPr>
              <a:t>ANOVA F-test (top 20), RF importance (top 25), RFE (20)</a:t>
            </a:r>
            <a:endParaRPr lang="en-US" sz="14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A30"/>
                </a:solidFill>
              </a:rPr>
              <a:t>13 features chosen by all three methods</a:t>
            </a:r>
            <a:endParaRPr lang="en-US" sz="14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A30"/>
                </a:solidFill>
              </a:rPr>
              <a:t>Final: RF top 25 = 81% of total importance</a:t>
            </a:r>
            <a:endParaRPr lang="en-US" sz="14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A30"/>
                </a:solidFill>
              </a:rPr>
              <a:t>PCA: 7 components for 80% variance — used for insight, not modelling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7A8B8F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 supervised model families, tuned and seeded</a:t>
            </a:r>
            <a:endParaRPr lang="en-US" sz="30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11064240" cy="3017520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237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Model</a:t>
                      </a:r>
                      <a:endParaRPr lang="en-US" sz="15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Family</a:t>
                      </a:r>
                      <a:endParaRPr lang="en-US" sz="15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Tuning / configuration</a:t>
                      </a:r>
                      <a:endParaRPr lang="en-US" sz="15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F2A30"/>
                          </a:solidFill>
                        </a:rPr>
                        <a:t>Logistic Regression</a:t>
                      </a:r>
                      <a:endParaRPr lang="en-US" sz="15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A30"/>
                          </a:solidFill>
                        </a:rPr>
                        <a:t>Linear</a:t>
                      </a:r>
                      <a:endParaRPr lang="en-US" sz="15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F2A30"/>
                          </a:solidFill>
                        </a:rPr>
                        <a:t>C = 1.0, class weight 2.11 (not grid-searched)</a:t>
                      </a:r>
                      <a:endParaRPr lang="en-US" sz="15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F2A30"/>
                          </a:solidFill>
                        </a:rPr>
                        <a:t>Random Forest</a:t>
                      </a:r>
                      <a:endParaRPr lang="en-US" sz="15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A30"/>
                          </a:solidFill>
                        </a:rPr>
                        <a:t>Bagged trees</a:t>
                      </a:r>
                      <a:endParaRPr lang="en-US" sz="15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F2A30"/>
                          </a:solidFill>
                        </a:rPr>
                        <a:t>GridSearchCV, 96 combos × 5 folds → 200 trees, depth 15, log2 features</a:t>
                      </a:r>
                      <a:endParaRPr lang="en-US" sz="15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F2A30"/>
                          </a:solidFill>
                        </a:rPr>
                        <a:t>XGBoost</a:t>
                      </a:r>
                      <a:endParaRPr lang="en-US" sz="15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A30"/>
                          </a:solidFill>
                        </a:rPr>
                        <a:t>Boosted trees</a:t>
                      </a:r>
                      <a:endParaRPr lang="en-US" sz="15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F2A30"/>
                          </a:solidFill>
                        </a:rPr>
                        <a:t>Fixed: 150 trees, depth 7, lr 0.05, L1 0.1 / L2 1.0, scale_pos_weight 2.11</a:t>
                      </a:r>
                      <a:endParaRPr lang="en-US" sz="15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F2A30"/>
                          </a:solidFill>
                        </a:rPr>
                        <a:t>SVM</a:t>
                      </a:r>
                      <a:endParaRPr lang="en-US" sz="15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A30"/>
                          </a:solidFill>
                        </a:rPr>
                        <a:t>Kernel</a:t>
                      </a:r>
                      <a:endParaRPr lang="en-US" sz="15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F2A30"/>
                          </a:solidFill>
                        </a:rPr>
                        <a:t>GridSearchCV, 12 combos × 5 folds → RBF, C = 1, gamma = scale</a:t>
                      </a:r>
                      <a:endParaRPr lang="en-US" sz="15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F2A30"/>
                          </a:solidFill>
                        </a:rPr>
                        <a:t>Neural network</a:t>
                      </a:r>
                      <a:endParaRPr lang="en-US" sz="15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A30"/>
                          </a:solidFill>
                        </a:rPr>
                        <a:t>Deep (MLP)</a:t>
                      </a:r>
                      <a:endParaRPr lang="en-US" sz="15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F2A30"/>
                          </a:solidFill>
                        </a:rPr>
                        <a:t>128-64-32, batch norm, dropout, L2; early stopping on val AUC (best epoch 6)</a:t>
                      </a:r>
                      <a:endParaRPr lang="en-US" sz="15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unsup-card"/>
          <p:cNvSpPr/>
          <p:nvPr/>
        </p:nvSpPr>
        <p:spPr>
          <a:xfrm>
            <a:off x="548640" y="4572000"/>
            <a:ext cx="5349240" cy="1645920"/>
          </a:xfrm>
          <a:prstGeom prst="roundRect">
            <a:avLst>
              <a:gd name="adj" fmla="val 6667"/>
            </a:avLst>
          </a:prstGeom>
          <a:solidFill>
            <a:srgbClr val="EEF4F3"/>
          </a:solidFill>
          <a:ln w="12700">
            <a:solidFill>
              <a:srgbClr val="EEF4F3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5" name="Text 2"/>
          <p:cNvSpPr txBox="1"/>
          <p:nvPr/>
        </p:nvSpPr>
        <p:spPr>
          <a:xfrm>
            <a:off x="731520" y="4663440"/>
            <a:ext cx="493776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0B3C49"/>
                </a:solidFill>
              </a:rPr>
              <a:t>Unsupervised</a:t>
            </a:r>
            <a:endParaRPr lang="en-US" sz="1600" dirty="0"/>
          </a:p>
        </p:txBody>
      </p:sp>
      <p:sp>
        <p:nvSpPr>
          <p:cNvPr id="3" name="Text 3"/>
          <p:cNvSpPr txBox="1"/>
          <p:nvPr/>
        </p:nvSpPr>
        <p:spPr>
          <a:xfrm>
            <a:off x="731520" y="5029200"/>
            <a:ext cx="4983480" cy="10972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F2A30"/>
                </a:solidFill>
              </a:rPr>
              <a:t>K-Means (silhouette K = 2–6), hierarchical (Ward), DBSCAN, Isolation Forest, PCA</a:t>
            </a:r>
            <a:endParaRPr lang="en-US" sz="1400" dirty="0"/>
          </a:p>
        </p:txBody>
      </p:sp>
      <p:sp>
        <p:nvSpPr>
          <p:cNvPr id="7" name="dl-card"/>
          <p:cNvSpPr/>
          <p:nvPr/>
        </p:nvSpPr>
        <p:spPr>
          <a:xfrm>
            <a:off x="6263640" y="4572000"/>
            <a:ext cx="5349240" cy="1645920"/>
          </a:xfrm>
          <a:prstGeom prst="roundRect">
            <a:avLst>
              <a:gd name="adj" fmla="val 6667"/>
            </a:avLst>
          </a:prstGeom>
          <a:solidFill>
            <a:srgbClr val="EEF4F3"/>
          </a:solidFill>
          <a:ln w="12700">
            <a:solidFill>
              <a:srgbClr val="EEF4F3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8" name="Text 5"/>
          <p:cNvSpPr txBox="1"/>
          <p:nvPr/>
        </p:nvSpPr>
        <p:spPr>
          <a:xfrm>
            <a:off x="6446520" y="4663440"/>
            <a:ext cx="493776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0B3C49"/>
                </a:solidFill>
              </a:rPr>
              <a:t>Why no CNN / RNN / LSTM / Transformer?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6446520" y="5029200"/>
            <a:ext cx="4983480" cy="10972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F2A30"/>
                </a:solidFill>
              </a:rPr>
              <a:t>Static tabular rows — no images, sequences or text; 2,831 training rows; tree ensembles still lead on tabular data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7A8B8F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of five models meet every target on the test set</a:t>
            </a:r>
            <a:endParaRPr lang="en-US" sz="3000" dirty="0"/>
          </a:p>
        </p:txBody>
      </p:sp>
      <p:graphicFrame>
        <p:nvGraphicFramePr>
          <p:cNvPr id="3" name="Chart 0"/>
          <p:cNvGraphicFramePr/>
          <p:nvPr/>
        </p:nvGraphicFramePr>
        <p:xfrm>
          <a:off x="548640" y="1280160"/>
          <a:ext cx="6766560" cy="49377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589520" y="1325880"/>
          <a:ext cx="4023360" cy="1645920"/>
        </p:xfrm>
        <a:graphic>
          <a:graphicData uri="http://schemas.openxmlformats.org/drawingml/2006/table">
            <a:tbl>
              <a:tblPr/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Model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Cut-off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AUC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Targets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F2A30"/>
                          </a:solidFill>
                        </a:rPr>
                        <a:t>Logistic Reg.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F2A30"/>
                          </a:solidFill>
                        </a:rPr>
                        <a:t>0.50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F2A30"/>
                          </a:solidFill>
                        </a:rPr>
                        <a:t>0.919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F2A30"/>
                          </a:solidFill>
                        </a:rPr>
                        <a:t>✓ all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0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F2A30"/>
                          </a:solidFill>
                        </a:rPr>
                        <a:t>Random Forest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F2A30"/>
                          </a:solidFill>
                        </a:rPr>
                        <a:t>0.40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F2A30"/>
                          </a:solidFill>
                        </a:rPr>
                        <a:t>0.930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F2A30"/>
                          </a:solidFill>
                        </a:rPr>
                        <a:t>✓ all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0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F2A30"/>
                          </a:solidFill>
                        </a:rPr>
                        <a:t>XGBoost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F2A30"/>
                          </a:solidFill>
                        </a:rPr>
                        <a:t>0.45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F2A30"/>
                          </a:solidFill>
                        </a:rPr>
                        <a:t>0.930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F2A30"/>
                          </a:solidFill>
                        </a:rPr>
                        <a:t>✓ all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0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F2A30"/>
                          </a:solidFill>
                        </a:rPr>
                        <a:t>SVM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F2A30"/>
                          </a:solidFill>
                        </a:rPr>
                        <a:t>0.40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F2A30"/>
                          </a:solidFill>
                        </a:rPr>
                        <a:t>0.913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F2A30"/>
                          </a:solidFill>
                        </a:rPr>
                        <a:t>✗ recall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DE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F2A30"/>
                          </a:solidFill>
                        </a:rPr>
                        <a:t>Neural net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F2A30"/>
                          </a:solidFill>
                        </a:rPr>
                        <a:t>0.45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F2A30"/>
                          </a:solidFill>
                        </a:rPr>
                        <a:t>0.915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F2A30"/>
                          </a:solidFill>
                        </a:rPr>
                        <a:t>✗ recall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DE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 1"/>
          <p:cNvSpPr txBox="1"/>
          <p:nvPr/>
        </p:nvSpPr>
        <p:spPr>
          <a:xfrm>
            <a:off x="7589520" y="4114800"/>
            <a:ext cx="4023360" cy="10972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7A8B8F"/>
                </a:solidFill>
              </a:rPr>
              <a:t>Targets: recall ≥ 80%, precision ≥ 70%, AUC ≥ 0.85. Test set = 885 students (284 dropouts), never used for any choice.</a:t>
            </a:r>
            <a:endParaRPr lang="en-US" sz="1300" dirty="0"/>
          </a:p>
        </p:txBody>
      </p:sp>
      <p:sp>
        <p:nvSpPr>
          <p:cNvPr id="6" name="Text 2"/>
          <p:cNvSpPr txBox="1"/>
          <p:nvPr/>
        </p:nvSpPr>
        <p:spPr>
          <a:xfrm>
            <a:off x="7589520" y="5257800"/>
            <a:ext cx="4023360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B3C49"/>
                </a:solidFill>
              </a:rPr>
              <a:t>AUC spread 0.913–0.930 ≈ CV standard deviation → top three are statistically close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7A8B8F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Validation-chosen cut-offs fix recall without test-set peeking</a:t>
            </a:r>
            <a:endParaRPr lang="en-US" sz="30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6675120" cy="2331720"/>
        </p:xfrm>
        <a:graphic>
          <a:graphicData uri="http://schemas.openxmlformats.org/drawingml/2006/table">
            <a:tbl>
              <a:tblPr/>
              <a:tblGrid>
                <a:gridCol w="1554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258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Model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Recall @0.50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Precision @0.50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Recall @chosen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Precision @chosen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F2A30"/>
                          </a:solidFill>
                        </a:rPr>
                        <a:t>Random Forest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F2A30"/>
                          </a:solidFill>
                        </a:rPr>
                        <a:t>74.6%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F2A30"/>
                          </a:solidFill>
                        </a:rPr>
                        <a:t>86.9%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F2A30"/>
                          </a:solidFill>
                        </a:rPr>
                        <a:t>81.3% (0.40)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F2A30"/>
                          </a:solidFill>
                        </a:rPr>
                        <a:t>82.2%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F2A30"/>
                          </a:solidFill>
                        </a:rPr>
                        <a:t>XGBoost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F2A30"/>
                          </a:solidFill>
                        </a:rPr>
                        <a:t>80.3%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F2A30"/>
                          </a:solidFill>
                        </a:rPr>
                        <a:t>83.8%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F2A30"/>
                          </a:solidFill>
                        </a:rPr>
                        <a:t>82.0% (0.45)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F2A30"/>
                          </a:solidFill>
                        </a:rPr>
                        <a:t>83.5%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F2A30"/>
                          </a:solidFill>
                        </a:rPr>
                        <a:t>SVM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F2A30"/>
                          </a:solidFill>
                        </a:rPr>
                        <a:t>78.5%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F2A30"/>
                          </a:solidFill>
                        </a:rPr>
                        <a:t>81.1%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F2A30"/>
                          </a:solidFill>
                        </a:rPr>
                        <a:t>79.2% (0.40)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F2A30"/>
                          </a:solidFill>
                        </a:rPr>
                        <a:t>80.4%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F2A30"/>
                          </a:solidFill>
                        </a:rPr>
                        <a:t>Neural net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F2A30"/>
                          </a:solidFill>
                        </a:rPr>
                        <a:t>76.8%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F2A30"/>
                          </a:solidFill>
                        </a:rPr>
                        <a:t>79.3%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F2A30"/>
                          </a:solidFill>
                        </a:rPr>
                        <a:t>77.8% (0.45)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F2A30"/>
                          </a:solidFill>
                        </a:rPr>
                        <a:t>76.7%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3749040"/>
            <a:ext cx="667512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>
              <a:buNone/>
            </a:pPr>
            <a:r>
              <a:rPr lang="en-US" sz="1400" i="1" dirty="0">
                <a:solidFill>
                  <a:srgbClr val="7A8B8F"/>
                </a:solidFill>
              </a:rPr>
              <a:t>Rule: highest cut-off whose validation recall ≥ 80%, applied once to test</a:t>
            </a:r>
            <a:endParaRPr lang="en-US" sz="14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7498080" y="1280160"/>
          <a:ext cx="4114800" cy="49377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repro-card"/>
          <p:cNvSpPr/>
          <p:nvPr/>
        </p:nvSpPr>
        <p:spPr>
          <a:xfrm>
            <a:off x="548640" y="4297680"/>
            <a:ext cx="6675120" cy="1920240"/>
          </a:xfrm>
          <a:prstGeom prst="roundRect">
            <a:avLst>
              <a:gd name="adj" fmla="val 5714"/>
            </a:avLst>
          </a:prstGeom>
          <a:solidFill>
            <a:srgbClr val="EEF4F3"/>
          </a:solidFill>
          <a:ln w="12700">
            <a:solidFill>
              <a:srgbClr val="EEF4F3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7" name="Text 3"/>
          <p:cNvSpPr txBox="1"/>
          <p:nvPr/>
        </p:nvSpPr>
        <p:spPr>
          <a:xfrm>
            <a:off x="731520" y="4389120"/>
            <a:ext cx="640080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0B3C49"/>
                </a:solidFill>
              </a:rPr>
              <a:t>Reproducibility fixes that changed results</a:t>
            </a:r>
            <a:endParaRPr lang="en-US" sz="1600" dirty="0"/>
          </a:p>
        </p:txBody>
      </p:sp>
      <p:sp>
        <p:nvSpPr>
          <p:cNvPr id="3" name="Text 4"/>
          <p:cNvSpPr txBox="1"/>
          <p:nvPr/>
        </p:nvSpPr>
        <p:spPr>
          <a:xfrm>
            <a:off x="731520" y="4800600"/>
            <a:ext cx="6355080" cy="1371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A30"/>
                </a:solidFill>
              </a:rPr>
              <a:t>Unseeded neural net: two identical runs gave recall 80.3% and 78.9% → seeded</a:t>
            </a:r>
            <a:endParaRPr lang="en-US" sz="14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A30"/>
                </a:solidFill>
              </a:rPr>
              <a:t>Keras metric renaming disabled early stopping in CV folds (200 epochs) → fixed; CV AUC 0.886 → 0.908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7A8B8F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Clustering finds risk tiers without using the label</a:t>
            </a:r>
            <a:endParaRPr lang="en-US" sz="3000" dirty="0"/>
          </a:p>
        </p:txBody>
      </p:sp>
      <p:graphicFrame>
        <p:nvGraphicFramePr>
          <p:cNvPr id="3" name="Chart 0"/>
          <p:cNvGraphicFramePr/>
          <p:nvPr/>
        </p:nvGraphicFramePr>
        <p:xfrm>
          <a:off x="548640" y="1280160"/>
          <a:ext cx="5120640" cy="3657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5029200"/>
            <a:ext cx="512064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>
              <a:buNone/>
            </a:pPr>
            <a:r>
              <a:rPr lang="en-US" sz="1400" i="1" dirty="0">
                <a:solidFill>
                  <a:srgbClr val="7A8B8F"/>
                </a:solidFill>
              </a:rPr>
              <a:t>K = 2 separates best; K = 3 (amber) chosen for three actionable tiers</a:t>
            </a:r>
            <a:endParaRPr lang="en-US" sz="1400" dirty="0"/>
          </a:p>
        </p:txBody>
      </p:sp>
      <p:sp>
        <p:nvSpPr>
          <p:cNvPr id="5" name="tier0"/>
          <p:cNvSpPr/>
          <p:nvPr/>
        </p:nvSpPr>
        <p:spPr>
          <a:xfrm>
            <a:off x="6035040" y="1325880"/>
            <a:ext cx="5577840" cy="1005840"/>
          </a:xfrm>
          <a:prstGeom prst="roundRect">
            <a:avLst>
              <a:gd name="adj" fmla="val 10909"/>
            </a:avLst>
          </a:prstGeom>
          <a:solidFill>
            <a:srgbClr val="EEF4F3"/>
          </a:solidFill>
          <a:ln w="12700">
            <a:solidFill>
              <a:srgbClr val="EEF4F3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6" name="Text 3"/>
          <p:cNvSpPr txBox="1"/>
          <p:nvPr/>
        </p:nvSpPr>
        <p:spPr>
          <a:xfrm>
            <a:off x="6217920" y="1435608"/>
            <a:ext cx="1645920" cy="777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4E9F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10.8%</a:t>
            </a:r>
            <a:endParaRPr lang="en-US" sz="3200" dirty="0"/>
          </a:p>
        </p:txBody>
      </p:sp>
      <p:sp>
        <p:nvSpPr>
          <p:cNvPr id="7" name="Text 4"/>
          <p:cNvSpPr txBox="1"/>
          <p:nvPr/>
        </p:nvSpPr>
        <p:spPr>
          <a:xfrm>
            <a:off x="7955280" y="1463040"/>
            <a:ext cx="347472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0B3C49"/>
                </a:solidFill>
              </a:rPr>
              <a:t>Low risk — dropout rate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7955280" y="1828800"/>
            <a:ext cx="347472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F2A30"/>
                </a:solidFill>
              </a:rPr>
              <a:t>2,916 students</a:t>
            </a:r>
            <a:endParaRPr lang="en-US" sz="1400" dirty="0"/>
          </a:p>
        </p:txBody>
      </p:sp>
      <p:sp>
        <p:nvSpPr>
          <p:cNvPr id="9" name="tier1"/>
          <p:cNvSpPr/>
          <p:nvPr/>
        </p:nvSpPr>
        <p:spPr>
          <a:xfrm>
            <a:off x="6035040" y="2514600"/>
            <a:ext cx="5577840" cy="1005840"/>
          </a:xfrm>
          <a:prstGeom prst="roundRect">
            <a:avLst>
              <a:gd name="adj" fmla="val 10909"/>
            </a:avLst>
          </a:prstGeom>
          <a:solidFill>
            <a:srgbClr val="EEF4F3"/>
          </a:solidFill>
          <a:ln w="12700">
            <a:solidFill>
              <a:srgbClr val="EEF4F3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10" name="Text 7"/>
          <p:cNvSpPr txBox="1"/>
          <p:nvPr/>
        </p:nvSpPr>
        <p:spPr>
          <a:xfrm>
            <a:off x="6217920" y="2624328"/>
            <a:ext cx="1645920" cy="777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E59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66.7%</a:t>
            </a:r>
            <a:endParaRPr lang="en-US" sz="3200" dirty="0"/>
          </a:p>
        </p:txBody>
      </p:sp>
      <p:sp>
        <p:nvSpPr>
          <p:cNvPr id="11" name="Text 8"/>
          <p:cNvSpPr txBox="1"/>
          <p:nvPr/>
        </p:nvSpPr>
        <p:spPr>
          <a:xfrm>
            <a:off x="7955280" y="2651760"/>
            <a:ext cx="347472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0B3C49"/>
                </a:solidFill>
              </a:rPr>
              <a:t>Medium risk — dropout rate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7955280" y="3017520"/>
            <a:ext cx="347472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F2A30"/>
                </a:solidFill>
              </a:rPr>
              <a:t>789 students</a:t>
            </a:r>
            <a:endParaRPr lang="en-US" sz="1400" dirty="0"/>
          </a:p>
        </p:txBody>
      </p:sp>
      <p:sp>
        <p:nvSpPr>
          <p:cNvPr id="13" name="tier2"/>
          <p:cNvSpPr/>
          <p:nvPr/>
        </p:nvSpPr>
        <p:spPr>
          <a:xfrm>
            <a:off x="6035040" y="3703320"/>
            <a:ext cx="5577840" cy="1005840"/>
          </a:xfrm>
          <a:prstGeom prst="roundRect">
            <a:avLst>
              <a:gd name="adj" fmla="val 10909"/>
            </a:avLst>
          </a:prstGeom>
          <a:solidFill>
            <a:srgbClr val="EEF4F3"/>
          </a:solidFill>
          <a:ln w="12700">
            <a:solidFill>
              <a:srgbClr val="EEF4F3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14" name="Text 11"/>
          <p:cNvSpPr txBox="1"/>
          <p:nvPr/>
        </p:nvSpPr>
        <p:spPr>
          <a:xfrm>
            <a:off x="6217920" y="3813048"/>
            <a:ext cx="1645920" cy="777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D953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80.5%</a:t>
            </a:r>
            <a:endParaRPr lang="en-US" sz="3200" dirty="0"/>
          </a:p>
        </p:txBody>
      </p:sp>
      <p:sp>
        <p:nvSpPr>
          <p:cNvPr id="15" name="Text 12"/>
          <p:cNvSpPr txBox="1"/>
          <p:nvPr/>
        </p:nvSpPr>
        <p:spPr>
          <a:xfrm>
            <a:off x="7955280" y="3840480"/>
            <a:ext cx="347472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0B3C49"/>
                </a:solidFill>
              </a:rPr>
              <a:t>High risk — dropout rate</a:t>
            </a:r>
            <a:endParaRPr lang="en-US" sz="1600" dirty="0"/>
          </a:p>
        </p:txBody>
      </p:sp>
      <p:sp>
        <p:nvSpPr>
          <p:cNvPr id="16" name="Text 13"/>
          <p:cNvSpPr txBox="1"/>
          <p:nvPr/>
        </p:nvSpPr>
        <p:spPr>
          <a:xfrm>
            <a:off x="7955280" y="4206240"/>
            <a:ext cx="347472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F2A30"/>
                </a:solidFill>
              </a:rPr>
              <a:t>719 students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6035040" y="4983480"/>
            <a:ext cx="5577840" cy="11887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A30"/>
                </a:solidFill>
              </a:rPr>
              <a:t>Isolation Forest: 133 anomalies (3.0%), 69.2% dropout vs 31.0%</a:t>
            </a:r>
            <a:endParaRPr lang="en-US" sz="14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A30"/>
                </a:solidFill>
              </a:rPr>
              <a:t>DBSCAN noise points (8.6%): 66.0% dropout · PCA: 7 components = 80% variance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7A8B8F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Academic progress, fees and age drive predictions</a:t>
            </a:r>
            <a:endParaRPr lang="en-US" sz="3000" dirty="0"/>
          </a:p>
        </p:txBody>
      </p:sp>
      <p:pic>
        <p:nvPicPr>
          <p:cNvPr id="3" name="shap-pdp-figure" descr="SHAP summary and PDP/ICE plot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280160"/>
            <a:ext cx="11064240" cy="416052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5486400"/>
            <a:ext cx="11064240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A30"/>
                </a:solidFill>
              </a:rPr>
              <a:t>SHAP: overall approval rate (0.97), 2nd-sem approval (0.50), fees up to date (0.41), age (0.28)</a:t>
            </a:r>
            <a:endParaRPr lang="en-US" sz="13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A30"/>
                </a:solidFill>
              </a:rPr>
              <a:t>PDP: fees paid → P(dropout) 0.64 → 0.35; 2nd-sem approval 0 → 1 → 0.48 → 0.31</a:t>
            </a:r>
            <a:endParaRPr lang="en-US" sz="13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A30"/>
                </a:solidFill>
              </a:rPr>
              <a:t>ICE: median 16-pt drop, IQR 9–25 → one intervention does not fit all · LIME agrees with SHAP per student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7A8B8F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Fairness: young and scholarship dropouts are missed more</a:t>
            </a:r>
            <a:endParaRPr lang="en-US" sz="3000" dirty="0"/>
          </a:p>
        </p:txBody>
      </p:sp>
      <p:graphicFrame>
        <p:nvGraphicFramePr>
          <p:cNvPr id="3" name="Chart 0"/>
          <p:cNvGraphicFramePr/>
          <p:nvPr/>
        </p:nvGraphicFramePr>
        <p:xfrm>
          <a:off x="548640" y="1280160"/>
          <a:ext cx="6309360" cy="49377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dp-card"/>
          <p:cNvSpPr/>
          <p:nvPr/>
        </p:nvSpPr>
        <p:spPr>
          <a:xfrm>
            <a:off x="7132320" y="1280160"/>
            <a:ext cx="4480560" cy="2011680"/>
          </a:xfrm>
          <a:prstGeom prst="roundRect">
            <a:avLst>
              <a:gd name="adj" fmla="val 5455"/>
            </a:avLst>
          </a:prstGeom>
          <a:solidFill>
            <a:srgbClr val="EEF4F3"/>
          </a:solidFill>
          <a:ln w="12700">
            <a:solidFill>
              <a:srgbClr val="EEF4F3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5" name="Text 2"/>
          <p:cNvSpPr txBox="1"/>
          <p:nvPr/>
        </p:nvSpPr>
        <p:spPr>
          <a:xfrm>
            <a:off x="7315200" y="1371600"/>
            <a:ext cx="411480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0B3C49"/>
                </a:solidFill>
              </a:rPr>
              <a:t>Demographic parity fails — by design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7315200" y="1737360"/>
            <a:ext cx="4114800" cy="1508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F2A30"/>
                </a:solidFill>
              </a:rPr>
              <a:t>DI 0.26–0.51, but flag ratios mirror real dropout ratios (male 1.96× flagged vs 1.86× actual). Primary criterion: equal opportunity (TPR).</a:t>
            </a:r>
            <a:endParaRPr lang="en-US" sz="14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132320" y="3474720"/>
          <a:ext cx="4480560" cy="2057400"/>
        </p:xfrm>
        <a:graphic>
          <a:graphicData uri="http://schemas.openxmlformats.org/drawingml/2006/table">
            <a:tbl>
              <a:tblPr/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Mitigation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Recall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Prec.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Age TPR gap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F2A30"/>
                          </a:solidFill>
                        </a:rPr>
                        <a:t>Baseline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F2A30"/>
                          </a:solidFill>
                        </a:rPr>
                        <a:t>82.4%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F2A30"/>
                          </a:solidFill>
                        </a:rPr>
                        <a:t>78.0%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F2A30"/>
                          </a:solidFill>
                        </a:rPr>
                        <a:t>0.205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F2A30"/>
                          </a:solidFill>
                        </a:rPr>
                        <a:t>M1 Unawareness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F2A30"/>
                          </a:solidFill>
                        </a:rPr>
                        <a:t>83.1%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F2A30"/>
                          </a:solidFill>
                        </a:rPr>
                        <a:t>78.9%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F2A30"/>
                          </a:solidFill>
                        </a:rPr>
                        <a:t>0.195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F2A30"/>
                          </a:solidFill>
                        </a:rPr>
                        <a:t>M2 Reweighing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F2A30"/>
                          </a:solidFill>
                        </a:rPr>
                        <a:t>79.9%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F2A30"/>
                          </a:solidFill>
                        </a:rPr>
                        <a:t>76.2%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F2A30"/>
                          </a:solidFill>
                        </a:rPr>
                        <a:t>0.122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1F2A30"/>
                          </a:solidFill>
                        </a:rPr>
                        <a:t>M3 Group thresholds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BD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F2A30"/>
                          </a:solidFill>
                        </a:rPr>
                        <a:t>85.9%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BD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F2A30"/>
                          </a:solidFill>
                        </a:rPr>
                        <a:t>72.4%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BD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F2A30"/>
                          </a:solidFill>
                        </a:rPr>
                        <a:t>0.117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B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Text 4"/>
          <p:cNvSpPr txBox="1"/>
          <p:nvPr/>
        </p:nvSpPr>
        <p:spPr>
          <a:xfrm>
            <a:off x="7132320" y="5623560"/>
            <a:ext cx="4480560" cy="5943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B3C49"/>
                </a:solidFill>
              </a:rPr>
              <a:t>Recommend M3: lifts age ≤20 TPR 71.6% → 80.4%, keeps precision ≥ 70%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7A8B8F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Reproducible by one command — with known limitations</a:t>
            </a:r>
            <a:endParaRPr lang="en-US" sz="3000" dirty="0"/>
          </a:p>
        </p:txBody>
      </p:sp>
      <p:sp>
        <p:nvSpPr>
          <p:cNvPr id="3" name="repro2-card"/>
          <p:cNvSpPr/>
          <p:nvPr/>
        </p:nvSpPr>
        <p:spPr>
          <a:xfrm>
            <a:off x="548640" y="1325880"/>
            <a:ext cx="5394960" cy="4892040"/>
          </a:xfrm>
          <a:prstGeom prst="roundRect">
            <a:avLst>
              <a:gd name="adj" fmla="val 2243"/>
            </a:avLst>
          </a:prstGeom>
          <a:solidFill>
            <a:srgbClr val="EEF4F3"/>
          </a:solidFill>
          <a:ln w="12700">
            <a:solidFill>
              <a:srgbClr val="EEF4F3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4" name="repro-ic-circle"/>
          <p:cNvSpPr/>
          <p:nvPr/>
        </p:nvSpPr>
        <p:spPr>
          <a:xfrm>
            <a:off x="777240" y="1508760"/>
            <a:ext cx="640080" cy="640080"/>
          </a:xfrm>
          <a:prstGeom prst="ellipse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pic>
        <p:nvPicPr>
          <p:cNvPr id="5" name="repro-ic-icon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7260" y="1668780"/>
            <a:ext cx="320040" cy="32004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554480" y="1600200"/>
            <a:ext cx="411480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0B3C49"/>
                </a:solidFill>
              </a:rPr>
              <a:t>Reproducibility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2286000"/>
            <a:ext cx="4983480" cy="3840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A30"/>
                </a:solidFill>
              </a:rPr>
              <a:t>pip install -r requirements.txt → python run_all.py (≈ 7–10 min)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A30"/>
                </a:solidFill>
              </a:rPr>
              <a:t>Nine numbered scripts; seeds everywhere; relative paths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A30"/>
                </a:solidFill>
              </a:rPr>
              <a:t>Outputs: models/, reports/model_metrics.csv, figures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A30"/>
                </a:solidFill>
              </a:rPr>
              <a:t>Results notebook reads outputs — never disagrees with code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A30"/>
                </a:solidFill>
              </a:rPr>
              <a:t>Two consecutive runs give identical results</a:t>
            </a:r>
            <a:endParaRPr lang="en-US" sz="1600" dirty="0"/>
          </a:p>
        </p:txBody>
      </p:sp>
      <p:sp>
        <p:nvSpPr>
          <p:cNvPr id="8" name="lim-card"/>
          <p:cNvSpPr/>
          <p:nvPr/>
        </p:nvSpPr>
        <p:spPr>
          <a:xfrm>
            <a:off x="6217920" y="1325880"/>
            <a:ext cx="5394960" cy="4892040"/>
          </a:xfrm>
          <a:prstGeom prst="roundRect">
            <a:avLst>
              <a:gd name="adj" fmla="val 2243"/>
            </a:avLst>
          </a:prstGeom>
          <a:solidFill>
            <a:srgbClr val="EEF4F3"/>
          </a:solidFill>
          <a:ln w="12700">
            <a:solidFill>
              <a:srgbClr val="EEF4F3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9" name="Text 6"/>
          <p:cNvSpPr txBox="1"/>
          <p:nvPr/>
        </p:nvSpPr>
        <p:spPr>
          <a:xfrm>
            <a:off x="6446520" y="1600200"/>
            <a:ext cx="493776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0B3C49"/>
                </a:solidFill>
              </a:rPr>
              <a:t>Limitations</a:t>
            </a:r>
            <a:endParaRPr lang="en-US" sz="1800" dirty="0"/>
          </a:p>
        </p:txBody>
      </p:sp>
      <p:sp>
        <p:nvSpPr>
          <p:cNvPr id="10" name="Text 7"/>
          <p:cNvSpPr txBox="1"/>
          <p:nvPr/>
        </p:nvSpPr>
        <p:spPr>
          <a:xfrm>
            <a:off x="6446520" y="2286000"/>
            <a:ext cx="4983480" cy="3840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A30"/>
                </a:solidFill>
              </a:rPr>
              <a:t>Timing: 2nd-sem data needed; enrolment-only AUC 0.814, + sem 1 0.907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A30"/>
                </a:solidFill>
              </a:rPr>
              <a:t>Single institution (Portugal, 2008–2019); no ethnicity data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A30"/>
                </a:solidFill>
              </a:rPr>
              <a:t>Course code used as numeric; one-hot pending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A30"/>
                </a:solidFill>
              </a:rPr>
              <a:t>Feature selection on all rows (minor optimism)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A30"/>
                </a:solidFill>
              </a:rPr>
              <a:t>LR and XGBoost not grid-searched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7A8B8F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731520" y="1828800"/>
            <a:ext cx="10698480" cy="1463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l">
              <a:buNone/>
            </a:pPr>
            <a:r>
              <a:rPr lang="en-US" sz="4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Select Logistic Regression; keep XGBoost as challenger</a:t>
            </a:r>
            <a:endParaRPr lang="en-US" sz="40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731520" y="3474720"/>
            <a:ext cx="1069848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CADCDA"/>
                </a:solidFill>
              </a:rPr>
              <a:t>Recall 82.0% · Precision 78.7% · AUC 0.919 — explainable, stable, audited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CADCDA"/>
                </a:solidFill>
              </a:rPr>
              <a:t>Next: group thresholds (M3) · staged early model · one-hot encoding · fairness monitoring each term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tudent Retention">
  <a:themeElements>
    <a:clrScheme name="Student Retention">
      <a:dk1>
        <a:srgbClr val="1F2A30"/>
      </a:dk1>
      <a:lt1>
        <a:srgbClr val="FFFFFF"/>
      </a:lt1>
      <a:dk2>
        <a:srgbClr val="0B3C49"/>
      </a:dk2>
      <a:lt2>
        <a:srgbClr val="EEF4F3"/>
      </a:lt2>
      <a:accent1>
        <a:srgbClr val="1B998B"/>
      </a:accent1>
      <a:accent2>
        <a:srgbClr val="E59A3C"/>
      </a:accent2>
      <a:accent3>
        <a:srgbClr val="D9534F"/>
      </a:accent3>
      <a:accent4>
        <a:srgbClr val="3E7CB1"/>
      </a:accent4>
      <a:accent5>
        <a:srgbClr val="7A8B8F"/>
      </a:accent5>
      <a:accent6>
        <a:srgbClr val="4E9F5B"/>
      </a:accent6>
      <a:hlink>
        <a:srgbClr val="1B998B"/>
      </a:hlink>
      <a:folHlink>
        <a:srgbClr val="7A8B8F"/>
      </a:folHlink>
    </a:clrScheme>
    <a:fontScheme name="Student Retention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1665</Words>
  <Application>Microsoft Office PowerPoint</Application>
  <PresentationFormat>Widescreen</PresentationFormat>
  <Paragraphs>239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Cambria</vt:lpstr>
      <vt:lpstr>Student Retention</vt:lpstr>
      <vt:lpstr>Predicting Student Dropout</vt:lpstr>
      <vt:lpstr>Binary classification: will this student drop out?</vt:lpstr>
      <vt:lpstr>Clean public data and a leakage-safe pipeline</vt:lpstr>
      <vt:lpstr>Engineered features dominate every importance ranking</vt:lpstr>
      <vt:lpstr>Five supervised model families, tuned and seeded</vt:lpstr>
      <vt:lpstr>Three of five models meet every target on the test set</vt:lpstr>
      <vt:lpstr>Validation-chosen cut-offs fix recall without test-set peeking</vt:lpstr>
      <vt:lpstr>Clustering finds risk tiers without using the label</vt:lpstr>
      <vt:lpstr>Academic progress, fees and age drive predictions</vt:lpstr>
      <vt:lpstr>Fairness: young and scholarship dropouts are missed more</vt:lpstr>
      <vt:lpstr>Reproducible by one command — with known limitations</vt:lpstr>
      <vt:lpstr>Select Logistic Regression; keep XGBoost as challenger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Student Dropout Prediction — Technical Presentation</dc:title>
  <dc:subject>PptxGenJS Presentation</dc:subject>
  <dc:creator>Capstone student</dc:creator>
  <cp:lastModifiedBy>Einar Abuyuan</cp:lastModifiedBy>
  <cp:revision>2</cp:revision>
  <dcterms:created xsi:type="dcterms:W3CDTF">2026-10-05T14:14:49Z</dcterms:created>
  <dcterms:modified xsi:type="dcterms:W3CDTF">2026-10-06T11:44:59Z</dcterms:modified>
</cp:coreProperties>
</file>