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7ACC0F6-853B-2863-A71F-E2B5099168C1}">
          <p14:sldIdLst>
            <p14:sldId id="256"/>
            <p14:sldId id="257"/>
          </p14:sldIdLst>
        </p14:section>
        <p14:section name="Problem &amp; solution" id="{9F9952A9-40D3-452A-8921-0E6D7D0BBF11}">
          <p14:sldIdLst>
            <p14:sldId id="258"/>
            <p14:sldId id="259"/>
          </p14:sldIdLst>
        </p14:section>
        <p14:section name="Evidence &amp; value" id="{DEBB9FCD-FE3B-4942-C05A-A5CE4ED5C249}">
          <p14:sldIdLst>
            <p14:sldId id="260"/>
            <p14:sldId id="261"/>
          </p14:sldIdLst>
        </p14:section>
        <p14:section name="Risks &amp; strategy" id="{8592F59E-6BBD-9EB4-9432-DFFEF85C6502}">
          <p14:sldIdLst>
            <p14:sldId id="262"/>
            <p14:sldId id="263"/>
            <p14:sldId id="264"/>
          </p14:sldIdLst>
        </p14:section>
        <p14:section name="Decision" id="{29D754C4-9E16-6453-F583-D05B14E19AD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3C49"/>
                </a:solidFill>
                <a:latin typeface="+mn-lt"/>
              </a:rPr>
              <a:t>Additional students retained per 1,000 enrolled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 retained per 1,000</c:v>
                </c:pt>
              </c:strCache>
            </c:strRef>
          </c:tx>
          <c:spPr>
            <a:solidFill>
              <a:srgbClr val="7A8B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8F1-4B14-82A8-446186974222}"/>
              </c:ext>
            </c:extLst>
          </c:dPt>
          <c:dPt>
            <c:idx val="1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F1-4B14-82A8-44618697422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8F1-4B14-82A8-446186974222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Support helps 10%</c:v>
                </c:pt>
                <c:pt idx="1">
                  <c:v>Support helps 20% (base)</c:v>
                </c:pt>
                <c:pt idx="2">
                  <c:v>Support helps 30%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</c:v>
                </c:pt>
                <c:pt idx="1">
                  <c:v>51</c:v>
                </c:pt>
                <c:pt idx="2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F1-4B14-82A8-4461869742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887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secure approval for a one-semester pilot of an early-warning system that helps advisors reach at-risk students sooner.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remember one thing: the model reliably finds most students who will leave, early enough to act — and the pilot will measure how many we can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institutional data, 4,424 students, Polytechnic Institute of Portalegre, 2008/09–2018/19 (public UCI dataset). Financial strain and older entry are the clearest non-academic warning 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a simple, transparent logistic regression chosen over more complex options because advisors must be able to explain every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82.0%, precision 78.7%, AUC 0.919 on the held-out test set (Logistic Regression). Drivers come from SHAP and model coefficients.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Break-even per flagged student = retained × tuition × years ÷ flags = 51 × T × 2 ÷ 367 ≈ 0.28 T. Plug in the institution's actual tuition and support costs for a money figure; we deliberately do not invent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fairness risk is real and measured, not hypothetical: the audit found young students' dropouts are under-detected. Group thresholds reduce the gap from 20.5 to 11.7 points while keeping precision above 70%.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control group is essential: without it we cannot separate the effect of support from normal variation in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KPIs feed a simple dashboard reviewed by a small governance group each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ask and the low-risk nature of a time-boxed pilot with measured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rgbClr val="CADCDA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8F"/>
                </a:solidFill>
              </a:rPr>
              <a:t>Student Dropout Early-Warning System  |  Executive briefing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dropouts before they leave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DA"/>
                </a:solidFill>
              </a:rPr>
              <a:t>A data-driven early-warning system for student retention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DA"/>
                </a:solidFill>
              </a:rPr>
              <a:t>Executive briefing  ·  Decision requested: approve a one-semester pilot</a:t>
            </a:r>
          </a:p>
          <a:p>
            <a:pPr marL="0" indent="0">
              <a:buNone/>
            </a:pPr>
            <a:r>
              <a:rPr lang="en-US" dirty="0"/>
              <a:t>Einar Ramos Abuyuan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um0"/>
          <p:cNvSpPr/>
          <p:nvPr/>
        </p:nvSpPr>
        <p:spPr>
          <a:xfrm>
            <a:off x="548640" y="132588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umic0-circle"/>
          <p:cNvSpPr/>
          <p:nvPr/>
        </p:nvSpPr>
        <p:spPr>
          <a:xfrm>
            <a:off x="777240" y="1673352"/>
            <a:ext cx="777240" cy="7772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5" name="sumic0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867662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508760"/>
            <a:ext cx="4069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920240"/>
            <a:ext cx="4069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0"/>
                </a:solidFill>
              </a:rPr>
              <a:t>1 in 3 students (32.1%) drops out; advisors usually find out too late</a:t>
            </a:r>
            <a:endParaRPr lang="en-US" sz="1500" dirty="0"/>
          </a:p>
        </p:txBody>
      </p:sp>
      <p:sp>
        <p:nvSpPr>
          <p:cNvPr id="8" name="sum1"/>
          <p:cNvSpPr/>
          <p:nvPr/>
        </p:nvSpPr>
        <p:spPr>
          <a:xfrm>
            <a:off x="6172200" y="132588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umic1-circle"/>
          <p:cNvSpPr/>
          <p:nvPr/>
        </p:nvSpPr>
        <p:spPr>
          <a:xfrm>
            <a:off x="6400800" y="1673352"/>
            <a:ext cx="777240" cy="7772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0" name="sumic1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1867662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1508760"/>
            <a:ext cx="4069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The solution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1920240"/>
            <a:ext cx="4069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0"/>
                </a:solidFill>
              </a:rPr>
              <a:t>A model scores each student's dropout risk after first-year results</a:t>
            </a:r>
            <a:endParaRPr lang="en-US" sz="1500" dirty="0"/>
          </a:p>
        </p:txBody>
      </p:sp>
      <p:sp>
        <p:nvSpPr>
          <p:cNvPr id="13" name="sum2"/>
          <p:cNvSpPr/>
          <p:nvPr/>
        </p:nvSpPr>
        <p:spPr>
          <a:xfrm>
            <a:off x="548640" y="29718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umic2-circle"/>
          <p:cNvSpPr/>
          <p:nvPr/>
        </p:nvSpPr>
        <p:spPr>
          <a:xfrm>
            <a:off x="777240" y="3319272"/>
            <a:ext cx="777240" cy="7772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5" name="sumic2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3513582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3154680"/>
            <a:ext cx="4069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It works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37360" y="3566160"/>
            <a:ext cx="4069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0"/>
                </a:solidFill>
              </a:rPr>
              <a:t>Catches 82 of every 100 future dropouts; 8 in 10 flags are correct</a:t>
            </a:r>
            <a:endParaRPr lang="en-US" sz="1500" dirty="0"/>
          </a:p>
        </p:txBody>
      </p:sp>
      <p:sp>
        <p:nvSpPr>
          <p:cNvPr id="18" name="sum3"/>
          <p:cNvSpPr/>
          <p:nvPr/>
        </p:nvSpPr>
        <p:spPr>
          <a:xfrm>
            <a:off x="6172200" y="29718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sumic3-circle"/>
          <p:cNvSpPr/>
          <p:nvPr/>
        </p:nvSpPr>
        <p:spPr>
          <a:xfrm>
            <a:off x="6400800" y="3319272"/>
            <a:ext cx="777240" cy="7772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0" name="sumic3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110" y="3513582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60920" y="3154680"/>
            <a:ext cx="4069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The value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360920" y="3566160"/>
            <a:ext cx="4069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0"/>
                </a:solidFill>
              </a:rPr>
              <a:t>~51 more students retained per 1,000 if support helps 1 in 5 flagged dropouts</a:t>
            </a:r>
            <a:endParaRPr lang="en-US" sz="1500" dirty="0"/>
          </a:p>
        </p:txBody>
      </p:sp>
      <p:sp>
        <p:nvSpPr>
          <p:cNvPr id="23" name="sum4"/>
          <p:cNvSpPr/>
          <p:nvPr/>
        </p:nvSpPr>
        <p:spPr>
          <a:xfrm>
            <a:off x="548640" y="461772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sumic4-circle"/>
          <p:cNvSpPr/>
          <p:nvPr/>
        </p:nvSpPr>
        <p:spPr>
          <a:xfrm>
            <a:off x="777240" y="4965192"/>
            <a:ext cx="777240" cy="7772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5" name="sumic4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5159502"/>
            <a:ext cx="388620" cy="3886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37360" y="4800600"/>
            <a:ext cx="4069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Safeguards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737360" y="5212080"/>
            <a:ext cx="4069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0"/>
                </a:solidFill>
              </a:rPr>
              <a:t>Advisor decides; support only, never sanctions; fairness monitored</a:t>
            </a:r>
            <a:endParaRPr lang="en-US" sz="1500" dirty="0"/>
          </a:p>
        </p:txBody>
      </p:sp>
      <p:sp>
        <p:nvSpPr>
          <p:cNvPr id="28" name="sum5"/>
          <p:cNvSpPr/>
          <p:nvPr/>
        </p:nvSpPr>
        <p:spPr>
          <a:xfrm>
            <a:off x="6172200" y="461772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sumic5-circle"/>
          <p:cNvSpPr/>
          <p:nvPr/>
        </p:nvSpPr>
        <p:spPr>
          <a:xfrm>
            <a:off x="6400800" y="4965192"/>
            <a:ext cx="777240" cy="777240"/>
          </a:xfrm>
          <a:prstGeom prst="ellipse">
            <a:avLst/>
          </a:prstGeom>
          <a:solidFill>
            <a:srgbClr val="E59A3C"/>
          </a:solidFill>
          <a:ln w="12700">
            <a:solidFill>
              <a:srgbClr val="E59A3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30" name="sumic5-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5110" y="5159502"/>
            <a:ext cx="388620" cy="3886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360920" y="4800600"/>
            <a:ext cx="4069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The ask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7360920" y="5212080"/>
            <a:ext cx="4069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0"/>
                </a:solidFill>
              </a:rPr>
              <a:t>Approve a one-semester pilot with a control group to prove the impact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 three students leaves without a degree</a:t>
            </a:r>
            <a:endParaRPr lang="en-US" sz="3000" dirty="0"/>
          </a:p>
        </p:txBody>
      </p:sp>
      <p:sp>
        <p:nvSpPr>
          <p:cNvPr id="3" name="p1-card"/>
          <p:cNvSpPr/>
          <p:nvPr/>
        </p:nvSpPr>
        <p:spPr>
          <a:xfrm>
            <a:off x="548640" y="1371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p1-num"/>
          <p:cNvSpPr txBox="1"/>
          <p:nvPr/>
        </p:nvSpPr>
        <p:spPr>
          <a:xfrm>
            <a:off x="731520" y="1508760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32.1%</a:t>
            </a:r>
            <a:endParaRPr lang="en-US" sz="4000" dirty="0"/>
          </a:p>
        </p:txBody>
      </p:sp>
      <p:sp>
        <p:nvSpPr>
          <p:cNvPr id="5" name="p1-label"/>
          <p:cNvSpPr txBox="1"/>
          <p:nvPr/>
        </p:nvSpPr>
        <p:spPr>
          <a:xfrm>
            <a:off x="73152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of 4,424 students dropped out</a:t>
            </a:r>
            <a:endParaRPr lang="en-US" sz="1400" dirty="0"/>
          </a:p>
        </p:txBody>
      </p:sp>
      <p:sp>
        <p:nvSpPr>
          <p:cNvPr id="6" name="p2-card"/>
          <p:cNvSpPr/>
          <p:nvPr/>
        </p:nvSpPr>
        <p:spPr>
          <a:xfrm>
            <a:off x="4343400" y="1371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p2-num"/>
          <p:cNvSpPr txBox="1"/>
          <p:nvPr/>
        </p:nvSpPr>
        <p:spPr>
          <a:xfrm>
            <a:off x="4526280" y="1508760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86.6%</a:t>
            </a:r>
            <a:endParaRPr lang="en-US" sz="4000" dirty="0"/>
          </a:p>
        </p:txBody>
      </p:sp>
      <p:sp>
        <p:nvSpPr>
          <p:cNvPr id="8" name="p2-label"/>
          <p:cNvSpPr txBox="1"/>
          <p:nvPr/>
        </p:nvSpPr>
        <p:spPr>
          <a:xfrm>
            <a:off x="452628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dropout rate when tuition fees are in arrears</a:t>
            </a:r>
            <a:endParaRPr lang="en-US" sz="1400" dirty="0"/>
          </a:p>
        </p:txBody>
      </p:sp>
      <p:sp>
        <p:nvSpPr>
          <p:cNvPr id="9" name="p3-card"/>
          <p:cNvSpPr/>
          <p:nvPr/>
        </p:nvSpPr>
        <p:spPr>
          <a:xfrm>
            <a:off x="8138160" y="1371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p3-num"/>
          <p:cNvSpPr txBox="1"/>
          <p:nvPr/>
        </p:nvSpPr>
        <p:spPr>
          <a:xfrm>
            <a:off x="8321040" y="1508760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5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55.9%</a:t>
            </a:r>
            <a:endParaRPr lang="en-US" sz="4000" dirty="0"/>
          </a:p>
        </p:txBody>
      </p:sp>
      <p:sp>
        <p:nvSpPr>
          <p:cNvPr id="11" name="p3-label"/>
          <p:cNvSpPr txBox="1"/>
          <p:nvPr/>
        </p:nvSpPr>
        <p:spPr>
          <a:xfrm>
            <a:off x="832104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dropout rate for students who enrol after age 25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91840"/>
            <a:ext cx="10972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What each dropout costs</a:t>
            </a:r>
            <a:endParaRPr lang="en-US" sz="1800" dirty="0"/>
          </a:p>
        </p:txBody>
      </p:sp>
      <p:sp>
        <p:nvSpPr>
          <p:cNvPr id="13" name="cost0"/>
          <p:cNvSpPr/>
          <p:nvPr/>
        </p:nvSpPr>
        <p:spPr>
          <a:xfrm>
            <a:off x="548640" y="379476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 txBox="1"/>
          <p:nvPr/>
        </p:nvSpPr>
        <p:spPr>
          <a:xfrm>
            <a:off x="731520" y="3931920"/>
            <a:ext cx="3246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</a:rPr>
              <a:t>Institution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389120"/>
            <a:ext cx="324612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</a:rPr>
              <a:t>Lost tuition for remaining years; wasted teaching and admission costs; lower completion rates</a:t>
            </a:r>
            <a:endParaRPr lang="en-US" sz="1600" dirty="0"/>
          </a:p>
        </p:txBody>
      </p:sp>
      <p:sp>
        <p:nvSpPr>
          <p:cNvPr id="16" name="cost1"/>
          <p:cNvSpPr/>
          <p:nvPr/>
        </p:nvSpPr>
        <p:spPr>
          <a:xfrm>
            <a:off x="4343400" y="379476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 txBox="1"/>
          <p:nvPr/>
        </p:nvSpPr>
        <p:spPr>
          <a:xfrm>
            <a:off x="4526280" y="3931920"/>
            <a:ext cx="3246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</a:rPr>
              <a:t>Students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389120"/>
            <a:ext cx="324612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</a:rPr>
              <a:t>Debt and time spent without a qualification; lower earnings and confidence</a:t>
            </a:r>
            <a:endParaRPr lang="en-US" sz="1600" dirty="0"/>
          </a:p>
        </p:txBody>
      </p:sp>
      <p:sp>
        <p:nvSpPr>
          <p:cNvPr id="19" name="cost2"/>
          <p:cNvSpPr/>
          <p:nvPr/>
        </p:nvSpPr>
        <p:spPr>
          <a:xfrm>
            <a:off x="8138160" y="379476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 txBox="1"/>
          <p:nvPr/>
        </p:nvSpPr>
        <p:spPr>
          <a:xfrm>
            <a:off x="8321040" y="3931920"/>
            <a:ext cx="3246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</a:rPr>
              <a:t>Advisors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389120"/>
            <a:ext cx="324612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</a:rPr>
              <a:t>Effort spread thinly or arriving too late to change the outcome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early-warning system works</a:t>
            </a:r>
            <a:endParaRPr lang="en-US" sz="3000" dirty="0"/>
          </a:p>
        </p:txBody>
      </p:sp>
      <p:sp>
        <p:nvSpPr>
          <p:cNvPr id="3" name="flow0"/>
          <p:cNvSpPr/>
          <p:nvPr/>
        </p:nvSpPr>
        <p:spPr>
          <a:xfrm>
            <a:off x="54864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flowic0-circle"/>
          <p:cNvSpPr/>
          <p:nvPr/>
        </p:nvSpPr>
        <p:spPr>
          <a:xfrm>
            <a:off x="1417320" y="1554480"/>
            <a:ext cx="914400" cy="9144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5" name="flowic0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</a:rPr>
              <a:t>1. Collect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30"/>
                </a:solidFill>
              </a:rPr>
              <a:t>First-year grades, units passed, fees status, background — data the institution already holds</a:t>
            </a:r>
            <a:endParaRPr lang="en-US" sz="1400" dirty="0"/>
          </a:p>
        </p:txBody>
      </p:sp>
      <p:sp>
        <p:nvSpPr>
          <p:cNvPr id="8" name="arrow0"/>
          <p:cNvSpPr/>
          <p:nvPr/>
        </p:nvSpPr>
        <p:spPr>
          <a:xfrm>
            <a:off x="3218688" y="2743200"/>
            <a:ext cx="146304" cy="365760"/>
          </a:xfrm>
          <a:prstGeom prst="rightArrow">
            <a:avLst/>
          </a:prstGeom>
          <a:solidFill>
            <a:srgbClr val="7A8B8F"/>
          </a:solidFill>
          <a:ln w="12700">
            <a:solidFill>
              <a:srgbClr val="7A8B8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flow1"/>
          <p:cNvSpPr/>
          <p:nvPr/>
        </p:nvSpPr>
        <p:spPr>
          <a:xfrm>
            <a:off x="338328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flowic1-circle"/>
          <p:cNvSpPr/>
          <p:nvPr/>
        </p:nvSpPr>
        <p:spPr>
          <a:xfrm>
            <a:off x="4251960" y="1554480"/>
            <a:ext cx="914400" cy="9144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1" name="flowic1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783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</a:rPr>
              <a:t>2. Score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30"/>
                </a:solidFill>
              </a:rPr>
              <a:t>Model estimates each student's dropout risk (0–100%)</a:t>
            </a:r>
            <a:endParaRPr lang="en-US" sz="1400" dirty="0"/>
          </a:p>
        </p:txBody>
      </p:sp>
      <p:sp>
        <p:nvSpPr>
          <p:cNvPr id="14" name="arrow1"/>
          <p:cNvSpPr/>
          <p:nvPr/>
        </p:nvSpPr>
        <p:spPr>
          <a:xfrm>
            <a:off x="6053328" y="2743200"/>
            <a:ext cx="146304" cy="365760"/>
          </a:xfrm>
          <a:prstGeom prst="rightArrow">
            <a:avLst/>
          </a:prstGeom>
          <a:solidFill>
            <a:srgbClr val="7A8B8F"/>
          </a:solidFill>
          <a:ln w="12700">
            <a:solidFill>
              <a:srgbClr val="7A8B8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flow2"/>
          <p:cNvSpPr/>
          <p:nvPr/>
        </p:nvSpPr>
        <p:spPr>
          <a:xfrm>
            <a:off x="621792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flowic2-circle"/>
          <p:cNvSpPr/>
          <p:nvPr/>
        </p:nvSpPr>
        <p:spPr>
          <a:xfrm>
            <a:off x="7086600" y="1554480"/>
            <a:ext cx="914400" cy="9144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7" name="flowic2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7830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</a:rPr>
              <a:t>3. Shortlist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30"/>
                </a:solidFill>
              </a:rPr>
              <a:t>Advisors receive a ranked list with the top reasons for each flag</a:t>
            </a:r>
            <a:endParaRPr lang="en-US" sz="1400" dirty="0"/>
          </a:p>
        </p:txBody>
      </p:sp>
      <p:sp>
        <p:nvSpPr>
          <p:cNvPr id="20" name="arrow2"/>
          <p:cNvSpPr/>
          <p:nvPr/>
        </p:nvSpPr>
        <p:spPr>
          <a:xfrm>
            <a:off x="8887968" y="2743200"/>
            <a:ext cx="146304" cy="365760"/>
          </a:xfrm>
          <a:prstGeom prst="rightArrow">
            <a:avLst/>
          </a:prstGeom>
          <a:solidFill>
            <a:srgbClr val="7A8B8F"/>
          </a:solidFill>
          <a:ln w="12700">
            <a:solidFill>
              <a:srgbClr val="7A8B8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flow3"/>
          <p:cNvSpPr/>
          <p:nvPr/>
        </p:nvSpPr>
        <p:spPr>
          <a:xfrm>
            <a:off x="905256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flowic3-circle"/>
          <p:cNvSpPr/>
          <p:nvPr/>
        </p:nvSpPr>
        <p:spPr>
          <a:xfrm>
            <a:off x="9921240" y="1554480"/>
            <a:ext cx="914400" cy="914400"/>
          </a:xfrm>
          <a:prstGeom prst="ellipse">
            <a:avLst/>
          </a:prstGeom>
          <a:solidFill>
            <a:srgbClr val="E59A3C"/>
          </a:solidFill>
          <a:ln w="12700">
            <a:solidFill>
              <a:srgbClr val="E59A3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3" name="flowic3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17830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8972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</a:rPr>
              <a:t>4. Support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18972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30"/>
                </a:solidFill>
              </a:rPr>
              <a:t>Tutoring, mentoring, financial-aid advice or flexible study plans</a:t>
            </a:r>
            <a:endParaRPr lang="en-US" sz="1400" dirty="0"/>
          </a:p>
        </p:txBody>
      </p:sp>
      <p:sp>
        <p:nvSpPr>
          <p:cNvPr id="26" name="why-card"/>
          <p:cNvSpPr/>
          <p:nvPr/>
        </p:nvSpPr>
        <p:spPr>
          <a:xfrm>
            <a:off x="548640" y="470916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1"/>
          <p:cNvSpPr txBox="1"/>
          <p:nvPr/>
        </p:nvSpPr>
        <p:spPr>
          <a:xfrm>
            <a:off x="777240" y="4800600"/>
            <a:ext cx="3657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</a:rPr>
              <a:t>Why it is trustworthy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777240" y="5212080"/>
            <a:ext cx="10607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</a:rPr>
              <a:t>Every flag comes with plain-language reasons (e.g. 'passed 1 of 6 units', 'fees overdue')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</a:rPr>
              <a:t>An advisor always makes the final call — the system recommends, people decide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finds most at-risk students — and is right most of the time</a:t>
            </a:r>
            <a:endParaRPr lang="en-US" sz="3000" dirty="0"/>
          </a:p>
        </p:txBody>
      </p:sp>
      <p:sp>
        <p:nvSpPr>
          <p:cNvPr id="3" name="r1-card"/>
          <p:cNvSpPr/>
          <p:nvPr/>
        </p:nvSpPr>
        <p:spPr>
          <a:xfrm>
            <a:off x="548640" y="1371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r1-num"/>
          <p:cNvSpPr txBox="1"/>
          <p:nvPr/>
        </p:nvSpPr>
        <p:spPr>
          <a:xfrm>
            <a:off x="731520" y="1508760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 of 100</a:t>
            </a:r>
            <a:endParaRPr lang="en-US" sz="4000" dirty="0"/>
          </a:p>
        </p:txBody>
      </p:sp>
      <p:sp>
        <p:nvSpPr>
          <p:cNvPr id="5" name="r1-label"/>
          <p:cNvSpPr txBox="1"/>
          <p:nvPr/>
        </p:nvSpPr>
        <p:spPr>
          <a:xfrm>
            <a:off x="73152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future dropouts flagged (target: 80)</a:t>
            </a:r>
            <a:endParaRPr lang="en-US" sz="1400" dirty="0"/>
          </a:p>
        </p:txBody>
      </p:sp>
      <p:sp>
        <p:nvSpPr>
          <p:cNvPr id="6" name="r2-card"/>
          <p:cNvSpPr/>
          <p:nvPr/>
        </p:nvSpPr>
        <p:spPr>
          <a:xfrm>
            <a:off x="4343400" y="1371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r2-num"/>
          <p:cNvSpPr txBox="1"/>
          <p:nvPr/>
        </p:nvSpPr>
        <p:spPr>
          <a:xfrm>
            <a:off x="4526280" y="1508760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4000" dirty="0"/>
          </a:p>
        </p:txBody>
      </p:sp>
      <p:sp>
        <p:nvSpPr>
          <p:cNvPr id="8" name="r2-label"/>
          <p:cNvSpPr txBox="1"/>
          <p:nvPr/>
        </p:nvSpPr>
        <p:spPr>
          <a:xfrm>
            <a:off x="452628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of flagged students truly at risk (target: 70%)</a:t>
            </a:r>
            <a:endParaRPr lang="en-US" sz="1400" dirty="0"/>
          </a:p>
        </p:txBody>
      </p:sp>
      <p:sp>
        <p:nvSpPr>
          <p:cNvPr id="9" name="r3-card"/>
          <p:cNvSpPr/>
          <p:nvPr/>
        </p:nvSpPr>
        <p:spPr>
          <a:xfrm>
            <a:off x="8138160" y="1371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r3-num"/>
          <p:cNvSpPr txBox="1"/>
          <p:nvPr/>
        </p:nvSpPr>
        <p:spPr>
          <a:xfrm>
            <a:off x="8321040" y="1508760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4000" dirty="0"/>
          </a:p>
        </p:txBody>
      </p:sp>
      <p:sp>
        <p:nvSpPr>
          <p:cNvPr id="11" name="r3-label"/>
          <p:cNvSpPr txBox="1"/>
          <p:nvPr/>
        </p:nvSpPr>
        <p:spPr>
          <a:xfrm>
            <a:off x="832104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ranking accuracy, AUC (target: 0.85)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91840"/>
            <a:ext cx="5486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How we know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60350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</a:rPr>
              <a:t>Tested on 885 students the model never saw during development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</a:rPr>
              <a:t>Five modelling approaches compared — the chosen one meets every target and is the easiest to explain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</a:rPr>
              <a:t>Results are stable across repeated tests and fully reproducible from code</a:t>
            </a:r>
            <a:endParaRPr lang="en-US" sz="1500" dirty="0"/>
          </a:p>
        </p:txBody>
      </p:sp>
      <p:sp>
        <p:nvSpPr>
          <p:cNvPr id="14" name="drivers-card"/>
          <p:cNvSpPr/>
          <p:nvPr/>
        </p:nvSpPr>
        <p:spPr>
          <a:xfrm>
            <a:off x="6858000" y="3337560"/>
            <a:ext cx="4754880" cy="2880360"/>
          </a:xfrm>
          <a:prstGeom prst="roundRect">
            <a:avLst>
              <a:gd name="adj" fmla="val 381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 txBox="1"/>
          <p:nvPr/>
        </p:nvSpPr>
        <p:spPr>
          <a:xfrm>
            <a:off x="7040880" y="3429000"/>
            <a:ext cx="4389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Top risk drivers → matching support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3931920"/>
          <a:ext cx="4389120" cy="212445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Driver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Low units passed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Tutoring, study plans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Fees in arrears / debt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Financial-aid advice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Enrolled after age 25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Flexible / mature-student support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 investment: ~51 students kept per 1,000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56692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49240"/>
            <a:ext cx="5669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7A8B8F"/>
                </a:solidFill>
              </a:rPr>
              <a:t>Dropout rate: 32.1% → about 29.5% / 27.0% / 24.4%</a:t>
            </a:r>
            <a:endParaRPr lang="en-US" sz="1400" dirty="0"/>
          </a:p>
        </p:txBody>
      </p:sp>
      <p:sp>
        <p:nvSpPr>
          <p:cNvPr id="5" name="roi-card"/>
          <p:cNvSpPr/>
          <p:nvPr/>
        </p:nvSpPr>
        <p:spPr>
          <a:xfrm>
            <a:off x="6492240" y="1325880"/>
            <a:ext cx="5120640" cy="4892040"/>
          </a:xfrm>
          <a:prstGeom prst="roundRect">
            <a:avLst>
              <a:gd name="adj" fmla="val 224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 txBox="1"/>
          <p:nvPr/>
        </p:nvSpPr>
        <p:spPr>
          <a:xfrm>
            <a:off x="6720840" y="1417320"/>
            <a:ext cx="4663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</a:rPr>
              <a:t>Per 1,000 students (base case)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720840" y="1874520"/>
            <a:ext cx="46634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</a:rPr>
              <a:t>321 would drop out without help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</a:rPr>
              <a:t>Model flags 367: 257 true at-risk + 110 false alarms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</a:rPr>
              <a:t>Support keeps 20% of the 257 → ~51 students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3474720"/>
            <a:ext cx="4663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Revenue protected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3840480"/>
            <a:ext cx="4663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998B"/>
                </a:solidFill>
              </a:rPr>
              <a:t>51 × annual tuition × remaining years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4297680"/>
            <a:ext cx="46634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Break-even: with 2 remaining years, the programme pays for itself if support costs less than ≈ 28% of one year's tuition per flagged student.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5440680"/>
            <a:ext cx="4663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7A8B8F"/>
                </a:solidFill>
              </a:rPr>
              <a:t>The 10–30% success rates are assumptions — the pilot will measure the real figure.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are known and managed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25880"/>
          <a:ext cx="10241280" cy="4846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could happen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Unequal detection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Young students' and scholarship holders' dropouts are caught less often (72% and 62%)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Lower threshold for these groups (catches 80% of young dropouts); term-by-term fairness reports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False alarms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About 3 in 10 flags may not need help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Support-only use; short, low-cost first contact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Late signal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Strongest data arrives mid-year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Add an earlier, lighter model after semester 1 (AUC 0.91)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Privacy &amp; trust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Sensitive student data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Anonymised data, role-based access, data-protection compliance, student right to decline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Model drift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Trained on 2008–2019 cohorts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Track accuracy each term; retrain yearly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iskic0-circle"/>
          <p:cNvSpPr/>
          <p:nvPr/>
        </p:nvSpPr>
        <p:spPr>
          <a:xfrm>
            <a:off x="548640" y="1906524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5" name="riskic0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43684"/>
            <a:ext cx="274320" cy="274320"/>
          </a:xfrm>
          <a:prstGeom prst="rect">
            <a:avLst/>
          </a:prstGeom>
        </p:spPr>
      </p:pic>
      <p:sp>
        <p:nvSpPr>
          <p:cNvPr id="6" name="riskic1-circle"/>
          <p:cNvSpPr/>
          <p:nvPr/>
        </p:nvSpPr>
        <p:spPr>
          <a:xfrm>
            <a:off x="548640" y="2793492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7" name="riskic1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30652"/>
            <a:ext cx="274320" cy="274320"/>
          </a:xfrm>
          <a:prstGeom prst="rect">
            <a:avLst/>
          </a:prstGeom>
        </p:spPr>
      </p:pic>
      <p:sp>
        <p:nvSpPr>
          <p:cNvPr id="3" name="riskic2-circle"/>
          <p:cNvSpPr/>
          <p:nvPr/>
        </p:nvSpPr>
        <p:spPr>
          <a:xfrm>
            <a:off x="548640" y="368046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9" name="riskic2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17620"/>
            <a:ext cx="274320" cy="274320"/>
          </a:xfrm>
          <a:prstGeom prst="rect">
            <a:avLst/>
          </a:prstGeom>
        </p:spPr>
      </p:pic>
      <p:sp>
        <p:nvSpPr>
          <p:cNvPr id="10" name="riskic3-circle"/>
          <p:cNvSpPr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1" name="riskic3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704588"/>
            <a:ext cx="274320" cy="274320"/>
          </a:xfrm>
          <a:prstGeom prst="rect">
            <a:avLst/>
          </a:prstGeom>
        </p:spPr>
      </p:pic>
      <p:sp>
        <p:nvSpPr>
          <p:cNvPr id="12" name="riskic4-circle"/>
          <p:cNvSpPr/>
          <p:nvPr/>
        </p:nvSpPr>
        <p:spPr>
          <a:xfrm>
            <a:off x="548640" y="5454396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3" name="riskic4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591556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Strategy: prove it small, then scale</a:t>
            </a:r>
            <a:endParaRPr lang="en-US" sz="3000" dirty="0"/>
          </a:p>
        </p:txBody>
      </p:sp>
      <p:sp>
        <p:nvSpPr>
          <p:cNvPr id="3" name="ph-dot0"/>
          <p:cNvSpPr/>
          <p:nvPr/>
        </p:nvSpPr>
        <p:spPr>
          <a:xfrm>
            <a:off x="1600200" y="141732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 txBox="1"/>
          <p:nvPr/>
        </p:nvSpPr>
        <p:spPr>
          <a:xfrm>
            <a:off x="1600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ph-line0"/>
          <p:cNvSpPr/>
          <p:nvPr/>
        </p:nvSpPr>
        <p:spPr>
          <a:xfrm>
            <a:off x="2194560" y="1691640"/>
            <a:ext cx="2286000" cy="0"/>
          </a:xfrm>
          <a:prstGeom prst="line">
            <a:avLst/>
          </a:prstGeom>
          <a:noFill/>
          <a:ln w="19050">
            <a:solidFill>
              <a:srgbClr val="7A8B8F"/>
            </a:solidFill>
            <a:prstDash val="dash"/>
          </a:ln>
        </p:spPr>
        <p:txBody>
          <a:bodyPr/>
          <a:lstStyle/>
          <a:p>
            <a:endParaRPr lang="en-PH"/>
          </a:p>
        </p:txBody>
      </p:sp>
      <p:sp>
        <p:nvSpPr>
          <p:cNvPr id="6" name="ph0"/>
          <p:cNvSpPr/>
          <p:nvPr/>
        </p:nvSpPr>
        <p:spPr>
          <a:xfrm>
            <a:off x="548640" y="22402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Prepare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7A8B8F"/>
                </a:solidFill>
              </a:rPr>
              <a:t>Months 1–2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08960"/>
            <a:ext cx="22860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</a:rPr>
              <a:t>Connect data; train advisors; ethics approval; define control group</a:t>
            </a:r>
            <a:endParaRPr lang="en-US" sz="1600" dirty="0"/>
          </a:p>
        </p:txBody>
      </p:sp>
      <p:sp>
        <p:nvSpPr>
          <p:cNvPr id="10" name="ph-dot1"/>
          <p:cNvSpPr/>
          <p:nvPr/>
        </p:nvSpPr>
        <p:spPr>
          <a:xfrm>
            <a:off x="4434840" y="1417320"/>
            <a:ext cx="548640" cy="548640"/>
          </a:xfrm>
          <a:prstGeom prst="ellipse">
            <a:avLst/>
          </a:prstGeom>
          <a:solidFill>
            <a:srgbClr val="E59A3C"/>
          </a:solidFill>
          <a:ln w="12700">
            <a:solidFill>
              <a:srgbClr val="E59A3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 txBox="1"/>
          <p:nvPr/>
        </p:nvSpPr>
        <p:spPr>
          <a:xfrm>
            <a:off x="4434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ph-line1"/>
          <p:cNvSpPr/>
          <p:nvPr/>
        </p:nvSpPr>
        <p:spPr>
          <a:xfrm>
            <a:off x="5029200" y="1691640"/>
            <a:ext cx="2286000" cy="0"/>
          </a:xfrm>
          <a:prstGeom prst="line">
            <a:avLst/>
          </a:prstGeom>
          <a:noFill/>
          <a:ln w="19050">
            <a:solidFill>
              <a:srgbClr val="7A8B8F"/>
            </a:solidFill>
            <a:prstDash val="dash"/>
          </a:ln>
        </p:spPr>
        <p:txBody>
          <a:bodyPr/>
          <a:lstStyle/>
          <a:p>
            <a:endParaRPr lang="en-PH"/>
          </a:p>
        </p:txBody>
      </p:sp>
      <p:sp>
        <p:nvSpPr>
          <p:cNvPr id="13" name="ph1"/>
          <p:cNvSpPr/>
          <p:nvPr/>
        </p:nvSpPr>
        <p:spPr>
          <a:xfrm>
            <a:off x="3383280" y="22402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 txBox="1"/>
          <p:nvPr/>
        </p:nvSpPr>
        <p:spPr>
          <a:xfrm>
            <a:off x="356616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Pilot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7A8B8F"/>
                </a:solidFill>
              </a:rPr>
              <a:t>One semester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108960"/>
            <a:ext cx="22860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</a:rPr>
              <a:t>Score first-year students; advisors contact flagged students; measure retention vs control</a:t>
            </a:r>
            <a:endParaRPr lang="en-US" sz="1600" dirty="0"/>
          </a:p>
        </p:txBody>
      </p:sp>
      <p:sp>
        <p:nvSpPr>
          <p:cNvPr id="17" name="ph-dot2"/>
          <p:cNvSpPr/>
          <p:nvPr/>
        </p:nvSpPr>
        <p:spPr>
          <a:xfrm>
            <a:off x="7269480" y="141732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 txBox="1"/>
          <p:nvPr/>
        </p:nvSpPr>
        <p:spPr>
          <a:xfrm>
            <a:off x="72694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ph-line2"/>
          <p:cNvSpPr/>
          <p:nvPr/>
        </p:nvSpPr>
        <p:spPr>
          <a:xfrm>
            <a:off x="7863840" y="1691640"/>
            <a:ext cx="2286000" cy="0"/>
          </a:xfrm>
          <a:prstGeom prst="line">
            <a:avLst/>
          </a:prstGeom>
          <a:noFill/>
          <a:ln w="19050">
            <a:solidFill>
              <a:srgbClr val="7A8B8F"/>
            </a:solidFill>
            <a:prstDash val="dash"/>
          </a:ln>
        </p:spPr>
        <p:txBody>
          <a:bodyPr/>
          <a:lstStyle/>
          <a:p>
            <a:endParaRPr lang="en-PH"/>
          </a:p>
        </p:txBody>
      </p:sp>
      <p:sp>
        <p:nvSpPr>
          <p:cNvPr id="20" name="ph2"/>
          <p:cNvSpPr/>
          <p:nvPr/>
        </p:nvSpPr>
        <p:spPr>
          <a:xfrm>
            <a:off x="6217920" y="22402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 txBox="1"/>
          <p:nvPr/>
        </p:nvSpPr>
        <p:spPr>
          <a:xfrm>
            <a:off x="640080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Evaluate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7A8B8F"/>
                </a:solidFill>
              </a:rPr>
              <a:t>End of semester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108960"/>
            <a:ext cx="22860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</a:rPr>
              <a:t>Retention lift, cost per retained student, fairness by group; go / no-go</a:t>
            </a:r>
            <a:endParaRPr lang="en-US" sz="1600" dirty="0"/>
          </a:p>
        </p:txBody>
      </p:sp>
      <p:sp>
        <p:nvSpPr>
          <p:cNvPr id="24" name="ph-dot3"/>
          <p:cNvSpPr/>
          <p:nvPr/>
        </p:nvSpPr>
        <p:spPr>
          <a:xfrm>
            <a:off x="10104120" y="141732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 txBox="1"/>
          <p:nvPr/>
        </p:nvSpPr>
        <p:spPr>
          <a:xfrm>
            <a:off x="10104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ph3"/>
          <p:cNvSpPr/>
          <p:nvPr/>
        </p:nvSpPr>
        <p:spPr>
          <a:xfrm>
            <a:off x="9052560" y="22402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 txBox="1"/>
          <p:nvPr/>
        </p:nvSpPr>
        <p:spPr>
          <a:xfrm>
            <a:off x="923544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Scale &amp; monitor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7A8B8F"/>
                </a:solidFill>
              </a:rPr>
              <a:t>Following year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3108960"/>
            <a:ext cx="22860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</a:rPr>
              <a:t>Roll out to all programmes; earlier semester-1 model; yearly retraining</a:t>
            </a:r>
            <a:endParaRPr lang="en-US" sz="1600" dirty="0"/>
          </a:p>
        </p:txBody>
      </p:sp>
      <p:sp>
        <p:nvSpPr>
          <p:cNvPr id="30" name="kpi-card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 txBox="1"/>
          <p:nvPr/>
        </p:nvSpPr>
        <p:spPr>
          <a:xfrm>
            <a:off x="777240" y="5303520"/>
            <a:ext cx="10607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</a:rPr>
              <a:t>Pilot success = retention lift of +5–10% vs control  ·  precision ≥ 70%  ·  contact within 14 days  ·  detection gap between groups ≤ 10 points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measure every term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48006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Retention lift (supported vs control)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+5% to +10%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Student services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Institutional dropout rate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Falling from 32.1%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Management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Flags that are truly at risk (precision)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≥ 70%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Advisors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Days from results to first contact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≤ 14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Advisors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Detection gap between student groups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≤ 10 points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Governance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Revenue protected vs programme cost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ROI &gt; 1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Finance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gov-card"/>
          <p:cNvSpPr/>
          <p:nvPr/>
        </p:nvSpPr>
        <p:spPr>
          <a:xfrm>
            <a:off x="7772400" y="1325880"/>
            <a:ext cx="3840480" cy="4892040"/>
          </a:xfrm>
          <a:prstGeom prst="roundRect">
            <a:avLst>
              <a:gd name="adj" fmla="val 2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gov-ic-circle"/>
          <p:cNvSpPr/>
          <p:nvPr/>
        </p:nvSpPr>
        <p:spPr>
          <a:xfrm>
            <a:off x="8001000" y="1508760"/>
            <a:ext cx="685800" cy="6858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6" name="gov-ic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450" y="168021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823960" y="1645920"/>
            <a:ext cx="2651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Governance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001000" y="2377440"/>
            <a:ext cx="3474720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Human review of every flag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Support only — never sanctions or admissions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Published model card and threshold policy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Students informed and able to decline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Fairness review trigger: any gap &gt; 10 points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requested: approve a one-semester pilot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DA"/>
                </a:solidFill>
              </a:rPr>
              <a:t>Nominate a sponsor and advisor team  ·  Approve data access and ethics review  ·  Agree the control-group design and KPIs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DA"/>
                </a:solidFill>
              </a:rPr>
              <a:t>We report back at the end of the semester with measured retention lift and ROI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 Retention">
  <a:themeElements>
    <a:clrScheme name="Student Retention">
      <a:dk1>
        <a:srgbClr val="1F2A30"/>
      </a:dk1>
      <a:lt1>
        <a:srgbClr val="FFFFFF"/>
      </a:lt1>
      <a:dk2>
        <a:srgbClr val="0B3C49"/>
      </a:dk2>
      <a:lt2>
        <a:srgbClr val="EEF4F3"/>
      </a:lt2>
      <a:accent1>
        <a:srgbClr val="1B998B"/>
      </a:accent1>
      <a:accent2>
        <a:srgbClr val="E59A3C"/>
      </a:accent2>
      <a:accent3>
        <a:srgbClr val="D9534F"/>
      </a:accent3>
      <a:accent4>
        <a:srgbClr val="3E7CB1"/>
      </a:accent4>
      <a:accent5>
        <a:srgbClr val="7A8B8F"/>
      </a:accent5>
      <a:accent6>
        <a:srgbClr val="4E9F5B"/>
      </a:accent6>
      <a:hlink>
        <a:srgbClr val="1B998B"/>
      </a:hlink>
      <a:folHlink>
        <a:srgbClr val="7A8B8F"/>
      </a:folHlink>
    </a:clrScheme>
    <a:fontScheme name="Student Reten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1194</Words>
  <Application>Microsoft Office PowerPoint</Application>
  <PresentationFormat>Widescreen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Student Retention</vt:lpstr>
      <vt:lpstr>Catching dropouts before they leave</vt:lpstr>
      <vt:lpstr>Executive summary</vt:lpstr>
      <vt:lpstr>One in three students leaves without a degree</vt:lpstr>
      <vt:lpstr>How the early-warning system works</vt:lpstr>
      <vt:lpstr>It finds most at-risk students — and is right most of the time</vt:lpstr>
      <vt:lpstr>Return on investment: ~51 students kept per 1,000</vt:lpstr>
      <vt:lpstr>Risks are known and managed</vt:lpstr>
      <vt:lpstr>Strategy: prove it small, then scale</vt:lpstr>
      <vt:lpstr>What we will measure every term</vt:lpstr>
      <vt:lpstr>Decision requested: approve a one-semester pilot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Dropout Early-Warning System — Executive Briefing</dc:title>
  <dc:subject>PptxGenJS Presentation</dc:subject>
  <dc:creator>Capstone student</dc:creator>
  <cp:lastModifiedBy>Einar Abuyuan</cp:lastModifiedBy>
  <cp:revision>2</cp:revision>
  <dcterms:created xsi:type="dcterms:W3CDTF">2026-10-05T14:14:50Z</dcterms:created>
  <dcterms:modified xsi:type="dcterms:W3CDTF">2026-10-06T11:46:17Z</dcterms:modified>
</cp:coreProperties>
</file>